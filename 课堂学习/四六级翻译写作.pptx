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20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157" autoAdjust="0"/>
  </p:normalViewPr>
  <p:slideViewPr>
    <p:cSldViewPr snapToGrid="0">
      <p:cViewPr varScale="1">
        <p:scale>
          <a:sx n="58" d="100"/>
          <a:sy n="58" d="100"/>
        </p:scale>
        <p:origin x="16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D447D-CDC3-4B95-8F89-FCE866F2746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E481C-2B08-495E-9151-4431DD059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846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958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305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句描述的是大运河客观存在的属性和地理位置，属于客观事实，所以使用一般现在时，且句子使用主动语态。句子的主干为：大运河是人工河。其余部分均为句子的非主干成分。其中，“世界上最长的”作定语修饰“人工河”，使用最高级表达“</a:t>
            </a:r>
            <a:r>
              <a:rPr lang="en-US" altLang="zh-CN" dirty="0"/>
              <a:t>the longest”</a:t>
            </a:r>
            <a:r>
              <a:rPr lang="zh-CN" altLang="en-US" dirty="0"/>
              <a:t>；“北起北京，南至杭州”用来补充说明大运河的起止位置，可以用处理为</a:t>
            </a:r>
            <a:r>
              <a:rPr lang="en-US" altLang="zh-CN" dirty="0"/>
              <a:t>which</a:t>
            </a:r>
            <a:r>
              <a:rPr lang="zh-CN" altLang="en-US" dirty="0"/>
              <a:t>引导的非限制性定语从句，进一步补充说明，本句为段落首句，无需使用逻辑关系词。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9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于两个句子较短，可以同时翻译，句②描述的是大运河的历史地位，属于事实陈述，所以使用一般现在时，且句子使用主动语态。句子的主干为：它是工程之一，其余部分均为句子的非主干成分。其中，“最宏伟的”作定语修饰“工程”，可以翻译为“</a:t>
            </a:r>
            <a:r>
              <a:rPr lang="en-US" altLang="zh-CN" dirty="0"/>
              <a:t>the greatest”</a:t>
            </a:r>
            <a:r>
              <a:rPr lang="zh-CN" altLang="en-US" dirty="0"/>
              <a:t>；“中国历史上”是表示范围的状语，可以翻译为“</a:t>
            </a:r>
            <a:r>
              <a:rPr lang="en-US" altLang="zh-CN" dirty="0"/>
              <a:t>in Chinese history”</a:t>
            </a:r>
            <a:r>
              <a:rPr lang="zh-CN" altLang="en-US" dirty="0"/>
              <a:t>，置于句末，句③描述的是大运河过去的建造时间，所以使用一般过去时。“大运河”是被建造的对象，“始建”和“建成”这两个动作的承受者是“大运河”，所以句子使用被动语态。句子的主干为：大运河始建，（大运河）建成，非主干成分“公元前</a:t>
            </a:r>
            <a:r>
              <a:rPr lang="en-US" altLang="zh-CN" dirty="0"/>
              <a:t>4</a:t>
            </a:r>
            <a:r>
              <a:rPr lang="zh-CN" altLang="en-US" dirty="0"/>
              <a:t>世纪”和“公元</a:t>
            </a:r>
            <a:r>
              <a:rPr lang="en-US" altLang="zh-CN" dirty="0"/>
              <a:t>13</a:t>
            </a:r>
            <a:r>
              <a:rPr lang="zh-CN" altLang="en-US" dirty="0"/>
              <a:t>世纪末”均是时间状语，分别置于“始建”和“建成”的后面。分析上下文可知，句②介绍了大运河的基本属性（世界上最长人工河、起止点）及其历史地位，句③接着阐述大运河的建造时间，为了两句译文的衔接流畅，可以使用表示递进的逻辑关系词或短语如“</a:t>
            </a:r>
            <a:r>
              <a:rPr lang="en-US" altLang="zh-CN" dirty="0"/>
              <a:t>Besides</a:t>
            </a:r>
            <a:r>
              <a:rPr lang="zh-CN" altLang="en-US" dirty="0"/>
              <a:t>，</a:t>
            </a:r>
            <a:r>
              <a:rPr lang="en-US" altLang="zh-CN" dirty="0"/>
              <a:t>In addition”</a:t>
            </a:r>
            <a:r>
              <a:rPr lang="zh-CN" altLang="en-US" dirty="0"/>
              <a:t>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563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句都是描述过去发生的动作，所以使用一般过去时，本句省略了主语“大运河”，想要表达的是“大运河是被用来运输粮食和其他商品的”，所以句子使用被动语态，同时在翻译时要增加主语，句子的主干为：（大运河）是为了运输粮食，用于运输其他商品。非主干成分“修建之初”和“后来”均作时间状语，分析上下文可知，本句可单独成句，无需使用含有明显逻辑关系的关系词。“修建之初”和“后来”清晰地体现了时间上的先后顺序，同时“也”连接两个并列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373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句描述的是从过去开始的“逐渐发展”这个动作，对现在产生了“成为中国的工商业中心”这样的结果和影响，所以使用现在完成时，“大运河沿线区域”是主动进行“发展”这个动作，所以句子使用主动语态。句子的主干为：区域发展成为中心。其余部分均为句子的非主干成分，其中，“大运河沿线”可以作后置定语修饰“区域”，翻译为“</a:t>
            </a:r>
            <a:r>
              <a:rPr lang="en-US" altLang="zh-CN" dirty="0"/>
              <a:t>along the Grand Canal</a:t>
            </a:r>
            <a:r>
              <a:rPr lang="zh-CN" altLang="en-US" dirty="0"/>
              <a:t>＂；“逐渐”作状语修饰“发展”这个动作，可翻译为“</a:t>
            </a:r>
            <a:r>
              <a:rPr lang="en-US" altLang="zh-CN" dirty="0"/>
              <a:t>gradually”</a:t>
            </a:r>
            <a:r>
              <a:rPr lang="zh-CN" altLang="en-US" dirty="0"/>
              <a:t>；“中国的工商业”可以处理为介词短语作后置定语修饰“中心”，翻译为“</a:t>
            </a:r>
            <a:r>
              <a:rPr lang="en-US" altLang="zh-CN" dirty="0"/>
              <a:t>the center of industry and commerce in China”.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180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实际情况可知，大运河从过去到现在一直对中国的经济和文化产生了重要影响，所以使用现在完成时。“大运河”是主动进行“发挥作用”和“促进”这些动作的，所以句子使用主动语态。句子的主干为：大运河发挥了重要作用，其余部分均为句子的非主干成分。其中，“长久以来”作时间状语，翻译为“</a:t>
            </a:r>
            <a:r>
              <a:rPr lang="en-US" altLang="zh-CN" dirty="0"/>
              <a:t>For a long time”</a:t>
            </a:r>
            <a:r>
              <a:rPr lang="zh-CN" altLang="en-US" dirty="0"/>
              <a:t>，置于句首；“对中国经济发展”处理为介词短语作范围状语，说明“发挥作用”的领域，可以翻译为“</a:t>
            </a:r>
            <a:r>
              <a:rPr lang="en-US" altLang="zh-CN" dirty="0"/>
              <a:t>in the economic development of China”</a:t>
            </a:r>
            <a:r>
              <a:rPr lang="zh-CN" altLang="en-US" dirty="0"/>
              <a:t>；“有力地促进了南北地区之间的人员往来和文化交流”可以处理为现在分词短语，补充说明大运河在发挥重要作用的同时带来的结果和影响。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026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819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875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289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481C-2B08-495E-9151-4431DD059E0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92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AD259C-4206-9AFA-5418-69ED1CD45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89C61F-AB77-1B62-44E5-08D9706F7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C56814-FF35-8B9B-9D59-3C6050ED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9D2390-2B20-1720-BFDA-E8D479AC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6AE1E-D4A7-7EA5-50DD-66D43A2B9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92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CFE2E-A70B-3A0B-0AF0-FA549D88D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CEDA20-B46F-BF43-9C25-5795EB885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5FC283-4BAA-B3CE-5ECC-357FF0CB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0CBE87-BE29-2A42-BA53-E5175AA24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B5CC0D-CBB1-5595-8781-EDD9F9B19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836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AE4E79-26DF-481E-6EF1-8AE11FB2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F0E783-19C3-6287-E77A-0349887E0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137B2B-1BE4-7CF0-B8AC-444CA5E8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5AB4ED-B589-DF44-412A-F480A155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A9FC6C-8055-C31C-01C5-00840BED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507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D0C2F-CE18-4CED-FFD0-7198907C0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6927D9-0FEE-2371-D4DD-0B9C38B82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0B87A8-D93D-A96B-1025-156CFF083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28D2CA-2865-C0DF-C771-21CCCDD9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DA501E-00B9-EBC0-183D-F7B11A85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8FF364-9BF9-4B14-5C55-70E3B418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39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4AE94-C6B7-3AC3-8A4A-EC02FF1F9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C0D067-AB47-1478-0E1B-788D708DF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1506D9-8C02-1564-D3A6-1CB614BD9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ED08EE-744E-6E5C-E35F-7332C0C1D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0AB958-3544-A07D-E519-D3DA57EC05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0AFD19-B8E9-339B-6AEA-B87C5831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4FD536-91D5-4178-6689-F7FD62FA3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A49ACA-A15A-AA85-FE38-FC2A6C15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96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2490E-13E2-997A-CA2A-1FB8E71DD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EC9AEC-7EBA-1022-7402-F65C572D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5A8F8B-3F52-4151-9057-BF55A791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76616E-343A-EABA-8864-E0B68B8B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804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EEAFE4-1D1C-63CD-8634-B508C582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317A0A-4722-F1DC-1CF6-0F8E07DF7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E9279D-4B53-DCD2-A18A-0B04DAD0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410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C7595-B167-48D0-2D8D-EA4E8DEB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7B8A0-FD2D-7345-C9D9-9C5E4C47E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4F58FA-02C3-3AF6-A3E9-7F8F58F45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604442-556B-5498-DC2E-A1250A0FE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B358B6-A772-AB67-D4D0-D00500AE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AF5784-E351-4C63-AF3B-8ABD308D4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27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5246E-9755-CB93-B935-B40E06BC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A10B34-D5EA-05E5-BA43-38566E15F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2BDFA-7250-69D9-87D6-EF9DD913B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9CC62A-910C-60BB-CDA0-FEF74C0B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012A02-E687-E953-941F-EF14705FE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6ABED8-22D5-4337-10E4-81B32F32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6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9F0F1-485D-ABB7-DC5E-794748DD3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5A5818-3D3E-DFE9-BEDB-24F045679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78E009-49E2-B10A-A627-25560F8EF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8FEC74-2C46-DE27-264F-1208FE4B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0BC0DA-4156-0366-42D5-F020CA7B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745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F1F06C-BBC4-7254-8AF6-5AD78AEA3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457C71-13B8-FFCC-5C44-68F058ECC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3E9AC-19C5-869B-E0B5-7F621956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E1154B-3D00-D99B-6690-F9A6CE8B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6A7EC0-1C17-8544-4B09-E554C6DB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87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5D3C3B-9F2A-66A0-8A92-C7F58456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01D4B8-BE3D-D0EC-A5E5-AC6D2EF0F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3CFD2-DC18-F42D-3F66-A82582BA13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47F62-9161-4DAD-BDFC-21E2B545A95C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C4FF79-E418-525C-F8A9-E8D1DE075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105843-C41F-D3FB-79AC-67EFC6F2A8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20503-A46E-4851-AB47-C961B6446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05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2895B-6893-42FB-B110-1AE8027D8B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四六级翻译写作技巧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E836D8-ED9B-C7D0-BA9E-9E7AD03C2F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691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2E29E7-C1A0-1FAC-1288-946907E9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翻译题概述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74A39C-7EF0-2012-C50C-848A196A1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翻译内容：中国历史、文化、经济、社会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文章长度四级</a:t>
            </a:r>
            <a:r>
              <a:rPr lang="en-US" altLang="zh-CN" dirty="0"/>
              <a:t>140-160</a:t>
            </a:r>
            <a:r>
              <a:rPr lang="zh-CN" altLang="en-US" dirty="0"/>
              <a:t>；六级</a:t>
            </a:r>
            <a:r>
              <a:rPr lang="en-US" altLang="zh-CN" dirty="0"/>
              <a:t>180</a:t>
            </a:r>
            <a:r>
              <a:rPr lang="zh-CN" altLang="en-US" dirty="0"/>
              <a:t>～</a:t>
            </a:r>
            <a:r>
              <a:rPr lang="en-US" altLang="zh-CN" dirty="0"/>
              <a:t>200 words (30 minutes 15</a:t>
            </a:r>
            <a:r>
              <a:rPr lang="zh-CN" altLang="en-US" dirty="0"/>
              <a:t>分</a:t>
            </a:r>
            <a:r>
              <a:rPr lang="en-US" altLang="zh-CN" dirty="0"/>
              <a:t>)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翻译步骤</a:t>
            </a:r>
            <a:r>
              <a:rPr lang="en-US" altLang="zh-CN" dirty="0"/>
              <a:t>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）以意群为单位读句子，确定句子的时态和语态。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）确定句子的主干，非主干部分用定语或状语来翻译。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）每句话翻译完之后都要看该句话和下句话的逻辑关系，加逻辑关系词</a:t>
            </a:r>
          </a:p>
        </p:txBody>
      </p:sp>
    </p:spTree>
    <p:extLst>
      <p:ext uri="{BB962C8B-B14F-4D97-AF65-F5344CB8AC3E}">
        <p14:creationId xmlns:p14="http://schemas.microsoft.com/office/powerpoint/2010/main" val="357811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755D3-C9F0-096A-FB59-A00645AE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翻译选词原则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84D14D-19E7-CCA1-E12B-A7C449F54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8557"/>
            <a:ext cx="10515600" cy="430840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en-US" b="1" dirty="0"/>
              <a:t>方法一：用我们会的单词把这个词的意思解释出来。</a:t>
            </a:r>
            <a:endParaRPr lang="en-US" altLang="zh-CN" b="1" dirty="0"/>
          </a:p>
          <a:p>
            <a:r>
              <a:rPr lang="en-US" altLang="zh-CN" dirty="0"/>
              <a:t>1</a:t>
            </a:r>
            <a:r>
              <a:rPr lang="zh-CN" altLang="en-US" dirty="0"/>
              <a:t>．京杭大运河 </a:t>
            </a:r>
            <a:r>
              <a:rPr lang="en-US" altLang="zh-CN" dirty="0"/>
              <a:t>The Beijing-Hangzhou Grand Canal</a:t>
            </a:r>
          </a:p>
          <a:p>
            <a:pPr marL="0" indent="0">
              <a:buNone/>
            </a:pPr>
            <a:r>
              <a:rPr lang="en-US" altLang="zh-CN" dirty="0"/>
              <a:t>   →</a:t>
            </a:r>
            <a:r>
              <a:rPr lang="zh-CN" altLang="en-US" dirty="0"/>
              <a:t>一条从北京到杭州的河</a:t>
            </a:r>
            <a:r>
              <a:rPr lang="en-US" altLang="zh-CN" dirty="0"/>
              <a:t>a river from Beijing to Hangzhou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．牡丹国色天香 </a:t>
            </a:r>
            <a:r>
              <a:rPr lang="en-US" altLang="zh-CN" dirty="0"/>
              <a:t>the peony-a national beauty with celestial fragrance</a:t>
            </a:r>
          </a:p>
          <a:p>
            <a:pPr marL="0" indent="0">
              <a:buNone/>
            </a:pPr>
            <a:r>
              <a:rPr lang="en-US" altLang="zh-CN" dirty="0"/>
              <a:t>   →</a:t>
            </a:r>
            <a:r>
              <a:rPr lang="zh-CN" altLang="en-US" dirty="0"/>
              <a:t>牡丹是中国最美的花。</a:t>
            </a:r>
            <a:r>
              <a:rPr lang="en-US" altLang="zh-CN" dirty="0"/>
              <a:t>Peony is the most beautiful flower in China.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．感恩节 </a:t>
            </a:r>
            <a:r>
              <a:rPr lang="en-US" altLang="zh-CN" dirty="0"/>
              <a:t>the Thanksgiving Day</a:t>
            </a:r>
          </a:p>
          <a:p>
            <a:pPr marL="0" indent="0">
              <a:buNone/>
            </a:pPr>
            <a:r>
              <a:rPr lang="en-US" altLang="zh-CN" dirty="0"/>
              <a:t>   →</a:t>
            </a:r>
            <a:r>
              <a:rPr lang="zh-CN" altLang="en-US" dirty="0"/>
              <a:t>表达我们感激的一天</a:t>
            </a:r>
            <a:r>
              <a:rPr lang="en-US" altLang="zh-CN" dirty="0"/>
              <a:t>a day to show our appreciation</a:t>
            </a:r>
            <a:r>
              <a:rPr lang="zh-CN" altLang="en-US" dirty="0"/>
              <a:t>／</a:t>
            </a:r>
            <a:r>
              <a:rPr lang="en-US" altLang="zh-CN" dirty="0"/>
              <a:t>thanks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．月饼 </a:t>
            </a:r>
            <a:r>
              <a:rPr lang="en-US" altLang="zh-CN" dirty="0"/>
              <a:t>moon cake</a:t>
            </a:r>
          </a:p>
          <a:p>
            <a:pPr marL="0" indent="0">
              <a:buNone/>
            </a:pPr>
            <a:r>
              <a:rPr lang="en-US" altLang="zh-CN" dirty="0"/>
              <a:t>   →</a:t>
            </a:r>
            <a:r>
              <a:rPr lang="zh-CN" altLang="en-US" dirty="0"/>
              <a:t>一种圆的、甜的食物 </a:t>
            </a:r>
            <a:r>
              <a:rPr lang="en-US" altLang="zh-CN" dirty="0"/>
              <a:t>a round and sweet food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．守门员 </a:t>
            </a:r>
            <a:r>
              <a:rPr lang="en-US" altLang="zh-CN" dirty="0"/>
              <a:t>goalkeeper</a:t>
            </a:r>
          </a:p>
          <a:p>
            <a:pPr marL="0" indent="0">
              <a:buNone/>
            </a:pPr>
            <a:r>
              <a:rPr lang="en-US" altLang="zh-CN" dirty="0"/>
              <a:t>  →</a:t>
            </a:r>
            <a:r>
              <a:rPr lang="zh-CN" altLang="en-US" dirty="0"/>
              <a:t>站在球门前的那个人 </a:t>
            </a:r>
            <a:r>
              <a:rPr lang="en-US" altLang="zh-CN" dirty="0"/>
              <a:t>the man who is standing in front of the gate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086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61C73-93AB-0736-3646-4C08B512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6AC42-ECB2-932C-0AE6-F5E2A7054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方法二：用该词的上位词（概念上外延更广的主题词）来代替</a:t>
            </a:r>
            <a:endParaRPr lang="en-US" altLang="zh-CN" b="1" dirty="0"/>
          </a:p>
          <a:p>
            <a:r>
              <a:rPr lang="en-US" altLang="zh-CN" dirty="0"/>
              <a:t>1</a:t>
            </a:r>
            <a:r>
              <a:rPr lang="zh-CN" altLang="en-US" dirty="0"/>
              <a:t>．大运河 </a:t>
            </a:r>
            <a:r>
              <a:rPr lang="en-US" altLang="zh-CN" dirty="0"/>
              <a:t>the Grand </a:t>
            </a:r>
            <a:r>
              <a:rPr lang="en-US" altLang="zh-CN" dirty="0" err="1"/>
              <a:t>Canal→a</a:t>
            </a:r>
            <a:r>
              <a:rPr lang="en-US" altLang="zh-CN" dirty="0"/>
              <a:t> river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．守门员 </a:t>
            </a:r>
            <a:r>
              <a:rPr lang="en-US" altLang="zh-CN" dirty="0" err="1"/>
              <a:t>goalkeeper→a</a:t>
            </a:r>
            <a:r>
              <a:rPr lang="en-US" altLang="zh-CN" dirty="0"/>
              <a:t> sportsman</a:t>
            </a:r>
            <a:r>
              <a:rPr lang="zh-CN" altLang="en-US" dirty="0"/>
              <a:t>／</a:t>
            </a:r>
            <a:r>
              <a:rPr lang="en-US" altLang="zh-CN" dirty="0"/>
              <a:t>man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．考古学家 </a:t>
            </a:r>
            <a:r>
              <a:rPr lang="en-US" altLang="zh-CN" dirty="0"/>
              <a:t>many </a:t>
            </a:r>
            <a:r>
              <a:rPr lang="en-US" altLang="zh-CN" dirty="0" err="1"/>
              <a:t>archacologists→many</a:t>
            </a:r>
            <a:r>
              <a:rPr lang="en-US" altLang="zh-CN" dirty="0"/>
              <a:t> experts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．火锅 </a:t>
            </a:r>
            <a:r>
              <a:rPr lang="en-US" altLang="zh-CN" dirty="0"/>
              <a:t>hot </a:t>
            </a:r>
            <a:r>
              <a:rPr lang="en-US" altLang="zh-CN" dirty="0" err="1"/>
              <a:t>pot→something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．商业大都市 </a:t>
            </a:r>
            <a:r>
              <a:rPr lang="en-US" altLang="zh-CN" dirty="0" err="1"/>
              <a:t>metropolitan→big</a:t>
            </a:r>
            <a:r>
              <a:rPr lang="en-US" altLang="zh-CN" dirty="0"/>
              <a:t> cities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．指南针 </a:t>
            </a:r>
            <a:r>
              <a:rPr lang="en-US" altLang="zh-CN" dirty="0" err="1"/>
              <a:t>compass→a</a:t>
            </a:r>
            <a:r>
              <a:rPr lang="en-US" altLang="zh-CN" dirty="0"/>
              <a:t> tool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821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BA442-FC20-FF46-C932-671AC182B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7B894A-50D7-6AA6-10A7-0CC78DD96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）方法三：用该词的同义词或近义词代替。</a:t>
            </a:r>
            <a:endParaRPr lang="en-US" altLang="zh-CN" dirty="0"/>
          </a:p>
          <a:p>
            <a:r>
              <a:rPr lang="zh-CN" altLang="en-US" dirty="0"/>
              <a:t>古文明 </a:t>
            </a:r>
            <a:r>
              <a:rPr lang="en-US" altLang="zh-CN" dirty="0"/>
              <a:t>ancient </a:t>
            </a:r>
            <a:r>
              <a:rPr lang="en-US" altLang="zh-CN" dirty="0" err="1"/>
              <a:t>civilization→old</a:t>
            </a:r>
            <a:r>
              <a:rPr lang="en-US" altLang="zh-CN" dirty="0"/>
              <a:t> cultures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761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EEBF2-96D6-5178-507E-A7B51832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真题讲解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4AC92A-75A9-1443-F360-CD7FA3C91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大运河（</a:t>
            </a:r>
            <a:r>
              <a:rPr lang="en-US" altLang="zh-CN" dirty="0"/>
              <a:t>Grand Canal</a:t>
            </a:r>
            <a:r>
              <a:rPr lang="zh-CN" altLang="en-US" dirty="0"/>
              <a:t>）是世界上最长的人工河，北起北京，南至杭州。它是中国历史上最宏伟的工程之一，大运河始建于公元前</a:t>
            </a:r>
            <a:r>
              <a:rPr lang="en-US" altLang="zh-CN" dirty="0"/>
              <a:t>4</a:t>
            </a:r>
            <a:r>
              <a:rPr lang="zh-CN" altLang="en-US" dirty="0"/>
              <a:t>世纪，公元</a:t>
            </a:r>
            <a:r>
              <a:rPr lang="en-US" altLang="zh-CN" dirty="0"/>
              <a:t>13</a:t>
            </a:r>
            <a:r>
              <a:rPr lang="zh-CN" altLang="en-US" dirty="0"/>
              <a:t>世纪末建成。修建之初是为了是为了运输粮食，后来也用于运输其他商品。大运河沿线区域逐渐发展成为中国的工商业中心，长久以来，大运河对中国经济发展发挥了重要作用，有力地促进了南北地区之间的人员往来和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1237530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EDB10-6F51-C8C5-523C-13667207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59FD58-83E0-3355-543C-0A1DB0F0F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①</a:t>
            </a:r>
            <a:r>
              <a:rPr lang="zh-CN" altLang="en-US" dirty="0">
                <a:solidFill>
                  <a:srgbClr val="FF0000"/>
                </a:solidFill>
              </a:rPr>
              <a:t>大运河（</a:t>
            </a:r>
            <a:r>
              <a:rPr lang="en-US" altLang="zh-CN" dirty="0">
                <a:solidFill>
                  <a:srgbClr val="FF0000"/>
                </a:solidFill>
              </a:rPr>
              <a:t>Grand Canal</a:t>
            </a:r>
            <a:r>
              <a:rPr lang="zh-CN" altLang="en-US" dirty="0">
                <a:solidFill>
                  <a:srgbClr val="FF0000"/>
                </a:solidFill>
              </a:rPr>
              <a:t>）是</a:t>
            </a:r>
            <a:r>
              <a:rPr lang="zh-CN" altLang="en-US" dirty="0">
                <a:solidFill>
                  <a:srgbClr val="0070C0"/>
                </a:solidFill>
              </a:rPr>
              <a:t>世界上最长的</a:t>
            </a:r>
            <a:r>
              <a:rPr lang="zh-CN" altLang="en-US" dirty="0">
                <a:solidFill>
                  <a:srgbClr val="FF0000"/>
                </a:solidFill>
              </a:rPr>
              <a:t>人工河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70C0"/>
                </a:solidFill>
              </a:rPr>
              <a:t>北起北京，南至杭州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【</a:t>
            </a:r>
            <a:r>
              <a:rPr lang="zh-CN" altLang="en-US" dirty="0"/>
              <a:t>泽文</a:t>
            </a:r>
            <a:r>
              <a:rPr lang="en-US" altLang="zh-CN" dirty="0"/>
              <a:t>】The Grand Canal </a:t>
            </a:r>
            <a:r>
              <a:rPr lang="en-US" altLang="zh-CN" dirty="0">
                <a:highlight>
                  <a:srgbClr val="00FF00"/>
                </a:highlight>
              </a:rPr>
              <a:t>is</a:t>
            </a:r>
            <a:r>
              <a:rPr lang="en-US" altLang="zh-CN" dirty="0"/>
              <a:t> the longest man-made river in the world,</a:t>
            </a:r>
            <a:r>
              <a:rPr lang="zh-CN" altLang="en-US" dirty="0"/>
              <a:t> </a:t>
            </a:r>
            <a:r>
              <a:rPr lang="en-US" altLang="zh-CN" dirty="0">
                <a:highlight>
                  <a:srgbClr val="FFFF00"/>
                </a:highlight>
              </a:rPr>
              <a:t>which</a:t>
            </a:r>
            <a:r>
              <a:rPr lang="en-US" altLang="zh-CN" dirty="0"/>
              <a:t> </a:t>
            </a:r>
            <a:r>
              <a:rPr lang="en-US" altLang="zh-CN" dirty="0">
                <a:highlight>
                  <a:srgbClr val="00FF00"/>
                </a:highlight>
              </a:rPr>
              <a:t>is</a:t>
            </a:r>
            <a:r>
              <a:rPr lang="en-US" altLang="zh-CN" dirty="0"/>
              <a:t> from Beijing in the north to Hangzhou in the south.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005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5CB3E-D710-8636-80C7-72070D697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F4242F-25AF-0CDF-BA85-46BEA99F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②</a:t>
            </a:r>
            <a:r>
              <a:rPr lang="zh-CN" altLang="en-US" dirty="0">
                <a:solidFill>
                  <a:srgbClr val="FF0000"/>
                </a:solidFill>
              </a:rPr>
              <a:t>它是</a:t>
            </a:r>
            <a:r>
              <a:rPr lang="zh-CN" altLang="en-US" dirty="0">
                <a:solidFill>
                  <a:srgbClr val="7030A0"/>
                </a:solidFill>
              </a:rPr>
              <a:t>中国历史上</a:t>
            </a:r>
            <a:r>
              <a:rPr lang="zh-CN" altLang="en-US" dirty="0">
                <a:solidFill>
                  <a:srgbClr val="0070C0"/>
                </a:solidFill>
              </a:rPr>
              <a:t>最宏伟的</a:t>
            </a:r>
            <a:r>
              <a:rPr lang="zh-CN" altLang="en-US" dirty="0">
                <a:solidFill>
                  <a:srgbClr val="FF0000"/>
                </a:solidFill>
              </a:rPr>
              <a:t>工程之一</a:t>
            </a:r>
            <a:r>
              <a:rPr lang="zh-CN" altLang="en-US" dirty="0"/>
              <a:t>。③</a:t>
            </a:r>
            <a:r>
              <a:rPr lang="zh-CN" altLang="en-US" dirty="0">
                <a:solidFill>
                  <a:srgbClr val="FF0000"/>
                </a:solidFill>
              </a:rPr>
              <a:t>大运河</a:t>
            </a:r>
            <a:r>
              <a:rPr lang="zh-CN" altLang="en-US" dirty="0">
                <a:solidFill>
                  <a:srgbClr val="FF0000"/>
                </a:solidFill>
                <a:highlight>
                  <a:srgbClr val="00FFFF"/>
                </a:highlight>
              </a:rPr>
              <a:t>始建</a:t>
            </a:r>
            <a:r>
              <a:rPr lang="zh-CN" altLang="en-US" dirty="0"/>
              <a:t>于</a:t>
            </a:r>
            <a:r>
              <a:rPr lang="zh-CN" altLang="en-US" dirty="0">
                <a:solidFill>
                  <a:srgbClr val="0070C0"/>
                </a:solidFill>
              </a:rPr>
              <a:t>公元前</a:t>
            </a:r>
            <a:r>
              <a:rPr lang="en-US" altLang="zh-CN" dirty="0">
                <a:solidFill>
                  <a:srgbClr val="0070C0"/>
                </a:solidFill>
              </a:rPr>
              <a:t>4</a:t>
            </a:r>
            <a:r>
              <a:rPr lang="zh-CN" altLang="en-US" dirty="0">
                <a:solidFill>
                  <a:srgbClr val="0070C0"/>
                </a:solidFill>
              </a:rPr>
              <a:t>世纪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70C0"/>
                </a:solidFill>
              </a:rPr>
              <a:t>公元</a:t>
            </a:r>
            <a:r>
              <a:rPr lang="en-US" altLang="zh-CN" dirty="0">
                <a:solidFill>
                  <a:srgbClr val="0070C0"/>
                </a:solidFill>
              </a:rPr>
              <a:t>13</a:t>
            </a:r>
            <a:r>
              <a:rPr lang="zh-CN" altLang="en-US" dirty="0">
                <a:solidFill>
                  <a:srgbClr val="0070C0"/>
                </a:solidFill>
              </a:rPr>
              <a:t>世纪末</a:t>
            </a:r>
            <a:r>
              <a:rPr lang="zh-CN" altLang="en-US" dirty="0">
                <a:solidFill>
                  <a:srgbClr val="FF0000"/>
                </a:solidFill>
                <a:highlight>
                  <a:srgbClr val="00FFFF"/>
                </a:highlight>
              </a:rPr>
              <a:t>建成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【</a:t>
            </a:r>
            <a:r>
              <a:rPr lang="zh-CN" altLang="en-US" dirty="0"/>
              <a:t>译文</a:t>
            </a:r>
            <a:r>
              <a:rPr lang="en-US" altLang="zh-CN" dirty="0"/>
              <a:t>】It </a:t>
            </a:r>
            <a:r>
              <a:rPr lang="en-US" altLang="zh-CN" dirty="0">
                <a:highlight>
                  <a:srgbClr val="00FF00"/>
                </a:highlight>
              </a:rPr>
              <a:t>is</a:t>
            </a:r>
            <a:r>
              <a:rPr lang="en-US" altLang="zh-CN" dirty="0"/>
              <a:t> one of the greatest projects in Chinese history. </a:t>
            </a:r>
            <a:r>
              <a:rPr lang="en-US" altLang="zh-CN" dirty="0">
                <a:highlight>
                  <a:srgbClr val="FFFF00"/>
                </a:highlight>
              </a:rPr>
              <a:t>Besides,</a:t>
            </a:r>
            <a:r>
              <a:rPr lang="zh-CN" altLang="en-US" dirty="0"/>
              <a:t> </a:t>
            </a:r>
            <a:r>
              <a:rPr lang="en-US" altLang="zh-CN" dirty="0"/>
              <a:t>it </a:t>
            </a:r>
            <a:r>
              <a:rPr lang="en-US" altLang="zh-CN" u="sng" dirty="0">
                <a:highlight>
                  <a:srgbClr val="00FF00"/>
                </a:highlight>
              </a:rPr>
              <a:t>was</a:t>
            </a:r>
            <a:r>
              <a:rPr lang="en-US" altLang="zh-CN" u="sng" dirty="0"/>
              <a:t> constructed </a:t>
            </a:r>
            <a:r>
              <a:rPr lang="en-US" altLang="zh-CN" dirty="0"/>
              <a:t>in the 4th century BC and </a:t>
            </a:r>
            <a:r>
              <a:rPr lang="en-US" altLang="zh-CN" u="sng" dirty="0">
                <a:highlight>
                  <a:srgbClr val="00FF00"/>
                </a:highlight>
              </a:rPr>
              <a:t>was</a:t>
            </a:r>
            <a:r>
              <a:rPr lang="en-US" altLang="zh-CN" u="sng" dirty="0"/>
              <a:t> completed</a:t>
            </a:r>
            <a:r>
              <a:rPr lang="en-US" altLang="zh-CN" dirty="0"/>
              <a:t> at the end of the 13th century.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340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F291D-CC29-CCFC-CBF4-B27887C2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CA9B8E-CC1D-C8E2-9174-8D1FA303C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④</a:t>
            </a:r>
            <a:r>
              <a:rPr lang="zh-CN" altLang="en-US" dirty="0">
                <a:solidFill>
                  <a:srgbClr val="0070C0"/>
                </a:solidFill>
              </a:rPr>
              <a:t>修建之初</a:t>
            </a:r>
            <a:r>
              <a:rPr lang="zh-CN" altLang="en-US" dirty="0">
                <a:solidFill>
                  <a:srgbClr val="FF0000"/>
                </a:solidFill>
              </a:rPr>
              <a:t>是为了运输粮食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70C0"/>
                </a:solidFill>
              </a:rPr>
              <a:t>后来</a:t>
            </a:r>
            <a:r>
              <a:rPr lang="zh-CN" altLang="en-US" dirty="0"/>
              <a:t>也</a:t>
            </a:r>
            <a:r>
              <a:rPr lang="zh-CN" altLang="en-US" dirty="0">
                <a:solidFill>
                  <a:srgbClr val="FF0000"/>
                </a:solidFill>
              </a:rPr>
              <a:t>用于运输其他商品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【</a:t>
            </a:r>
            <a:r>
              <a:rPr lang="zh-CN" altLang="en-US" dirty="0"/>
              <a:t>译文</a:t>
            </a:r>
            <a:r>
              <a:rPr lang="en-US" altLang="zh-CN" dirty="0"/>
              <a:t>】Originally, </a:t>
            </a:r>
            <a:r>
              <a:rPr lang="en-US" altLang="zh-CN" dirty="0">
                <a:highlight>
                  <a:srgbClr val="FFFF00"/>
                </a:highlight>
              </a:rPr>
              <a:t>it </a:t>
            </a:r>
            <a:r>
              <a:rPr lang="en-US" altLang="zh-CN" dirty="0">
                <a:highlight>
                  <a:srgbClr val="00FF00"/>
                </a:highlight>
              </a:rPr>
              <a:t>was</a:t>
            </a:r>
            <a:r>
              <a:rPr lang="en-US" altLang="zh-CN" dirty="0"/>
              <a:t> to transport grains, and later </a:t>
            </a:r>
            <a:r>
              <a:rPr lang="en-US" altLang="zh-CN" u="sng" dirty="0">
                <a:highlight>
                  <a:srgbClr val="00FF00"/>
                </a:highlight>
              </a:rPr>
              <a:t>was</a:t>
            </a:r>
            <a:r>
              <a:rPr lang="en-US" altLang="zh-CN" u="sng" dirty="0"/>
              <a:t> used </a:t>
            </a:r>
            <a:r>
              <a:rPr lang="en-US" altLang="zh-CN" dirty="0"/>
              <a:t>to carry other commodities.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862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F220A-B875-802C-CDDC-E12FB1E9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8B1D2F-F5C7-53FC-B861-F01DE05DB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⑤</a:t>
            </a:r>
            <a:r>
              <a:rPr lang="zh-CN" altLang="en-US" dirty="0">
                <a:solidFill>
                  <a:srgbClr val="0070C0"/>
                </a:solidFill>
              </a:rPr>
              <a:t>大运河沿线</a:t>
            </a:r>
            <a:r>
              <a:rPr lang="zh-CN" altLang="en-US" dirty="0">
                <a:solidFill>
                  <a:srgbClr val="FF0000"/>
                </a:solidFill>
              </a:rPr>
              <a:t>区域</a:t>
            </a:r>
            <a:r>
              <a:rPr lang="zh-CN" altLang="en-US" dirty="0">
                <a:solidFill>
                  <a:srgbClr val="0070C0"/>
                </a:solidFill>
              </a:rPr>
              <a:t>逐渐</a:t>
            </a:r>
            <a:r>
              <a:rPr lang="zh-CN" altLang="en-US" dirty="0">
                <a:solidFill>
                  <a:srgbClr val="FF0000"/>
                </a:solidFill>
              </a:rPr>
              <a:t>发展成为</a:t>
            </a:r>
            <a:r>
              <a:rPr lang="zh-CN" altLang="en-US" dirty="0">
                <a:solidFill>
                  <a:srgbClr val="0070C0"/>
                </a:solidFill>
              </a:rPr>
              <a:t>中国的工商业</a:t>
            </a:r>
            <a:r>
              <a:rPr lang="zh-CN" altLang="en-US" dirty="0">
                <a:solidFill>
                  <a:srgbClr val="FF0000"/>
                </a:solidFill>
              </a:rPr>
              <a:t>中心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【</a:t>
            </a:r>
            <a:r>
              <a:rPr lang="zh-CN" altLang="en-US" dirty="0"/>
              <a:t>译文</a:t>
            </a:r>
            <a:r>
              <a:rPr lang="en-US" altLang="zh-CN" dirty="0"/>
              <a:t>】The areas along the Grand Canal </a:t>
            </a:r>
            <a:r>
              <a:rPr lang="en-US" altLang="zh-CN" dirty="0">
                <a:highlight>
                  <a:srgbClr val="00FF00"/>
                </a:highlight>
              </a:rPr>
              <a:t>have gradually developed</a:t>
            </a:r>
            <a:r>
              <a:rPr lang="en-US" altLang="zh-CN" dirty="0"/>
              <a:t> into the center of industry and commerce in China.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171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0A380-34A5-9E7C-8273-28944A07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F01E1-AF73-3384-D5CC-F4E42F9CB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⑥</a:t>
            </a:r>
            <a:r>
              <a:rPr lang="zh-CN" altLang="en-US" dirty="0">
                <a:solidFill>
                  <a:srgbClr val="0070C0"/>
                </a:solidFill>
              </a:rPr>
              <a:t>长久以来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大运河</a:t>
            </a:r>
            <a:r>
              <a:rPr lang="zh-CN" altLang="en-US" dirty="0">
                <a:solidFill>
                  <a:srgbClr val="0070C0"/>
                </a:solidFill>
              </a:rPr>
              <a:t>对中国经济发展</a:t>
            </a:r>
            <a:r>
              <a:rPr lang="zh-CN" altLang="en-US" dirty="0">
                <a:solidFill>
                  <a:srgbClr val="FF0000"/>
                </a:solidFill>
              </a:rPr>
              <a:t>发挥了重要作用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70C0"/>
                </a:solidFill>
              </a:rPr>
              <a:t>有力地促进了南北地区之间的人员往来和文化交流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【</a:t>
            </a:r>
            <a:r>
              <a:rPr lang="zh-CN" altLang="en-US" dirty="0"/>
              <a:t>译文</a:t>
            </a:r>
            <a:r>
              <a:rPr lang="en-US" altLang="zh-CN" dirty="0"/>
              <a:t>】For a long time, it </a:t>
            </a:r>
            <a:r>
              <a:rPr lang="en-US" altLang="zh-CN" dirty="0">
                <a:highlight>
                  <a:srgbClr val="00FF00"/>
                </a:highlight>
              </a:rPr>
              <a:t>has played </a:t>
            </a:r>
            <a:r>
              <a:rPr lang="en-US" altLang="zh-CN" dirty="0"/>
              <a:t>a key role in the economic development of China, </a:t>
            </a:r>
            <a:r>
              <a:rPr lang="en-US" altLang="zh-CN" dirty="0">
                <a:highlight>
                  <a:srgbClr val="C0C0C0"/>
                </a:highlight>
              </a:rPr>
              <a:t>promoting</a:t>
            </a:r>
            <a:r>
              <a:rPr lang="en-US" altLang="zh-CN" dirty="0"/>
              <a:t> the personal exchange and cultural communication between the north and the south greatly.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011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E9724-4D6D-2CEF-568B-B7B9D935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翻译和写作原则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AEE15C-D200-4E27-9EEB-73B25CCBD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保底原则：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单词不要拼写错误。不会写的单词可以替换成自己会的单词，保证单词正确即可。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语法正确所有写不出的长难句都可以用简单句来表达，但需要保证句子的语法正确。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6467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FE372-F7B3-2DAD-5980-42B35450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E646B4-17EC-AA61-C6FE-A43DD7DB8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高分原则：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语言准确多变，语言即单词和语法。</a:t>
            </a:r>
            <a:endParaRPr lang="en-US" altLang="zh-CN" dirty="0"/>
          </a:p>
          <a:p>
            <a:r>
              <a:rPr lang="en-US" altLang="zh-CN" dirty="0"/>
              <a:t>“</a:t>
            </a:r>
            <a:r>
              <a:rPr lang="zh-CN" altLang="en-US" dirty="0"/>
              <a:t>认为”的表达有</a:t>
            </a:r>
            <a:r>
              <a:rPr lang="en-US" altLang="zh-CN" dirty="0"/>
              <a:t>think</a:t>
            </a:r>
            <a:r>
              <a:rPr lang="zh-CN" altLang="en-US" dirty="0"/>
              <a:t>、</a:t>
            </a:r>
            <a:r>
              <a:rPr lang="en-US" altLang="zh-CN" dirty="0"/>
              <a:t>believe</a:t>
            </a:r>
            <a:r>
              <a:rPr lang="zh-CN" altLang="en-US" dirty="0"/>
              <a:t>、</a:t>
            </a:r>
            <a:r>
              <a:rPr lang="en-US" altLang="zh-CN" dirty="0"/>
              <a:t>claim</a:t>
            </a:r>
            <a:r>
              <a:rPr lang="zh-CN" altLang="en-US" dirty="0"/>
              <a:t>、</a:t>
            </a:r>
            <a:r>
              <a:rPr lang="en-US" altLang="zh-CN" dirty="0"/>
              <a:t>assert</a:t>
            </a:r>
            <a:r>
              <a:rPr lang="zh-CN" altLang="en-US" dirty="0"/>
              <a:t>、</a:t>
            </a:r>
            <a:r>
              <a:rPr lang="en-US" altLang="zh-CN" dirty="0"/>
              <a:t>contend</a:t>
            </a:r>
            <a:r>
              <a:rPr lang="zh-CN" altLang="en-US" dirty="0"/>
              <a:t>、</a:t>
            </a:r>
            <a:r>
              <a:rPr lang="en-US" altLang="zh-CN" dirty="0"/>
              <a:t>argue</a:t>
            </a:r>
            <a:r>
              <a:rPr lang="zh-CN" altLang="en-US" dirty="0"/>
              <a:t>、</a:t>
            </a:r>
            <a:r>
              <a:rPr lang="en-US" altLang="zh-CN" dirty="0"/>
              <a:t>assume</a:t>
            </a:r>
            <a:r>
              <a:rPr lang="zh-CN" altLang="en-US" dirty="0"/>
              <a:t>、</a:t>
            </a:r>
            <a:r>
              <a:rPr lang="en-US" altLang="zh-CN" dirty="0"/>
              <a:t>presume </a:t>
            </a:r>
            <a:r>
              <a:rPr lang="zh-CN" altLang="en-US" dirty="0"/>
              <a:t>等；</a:t>
            </a:r>
            <a:endParaRPr lang="en-US" altLang="zh-CN" dirty="0"/>
          </a:p>
          <a:p>
            <a:r>
              <a:rPr lang="zh-CN" altLang="en-US" dirty="0"/>
              <a:t>“人们”的表达有</a:t>
            </a:r>
            <a:r>
              <a:rPr lang="en-US" altLang="zh-CN" dirty="0"/>
              <a:t>people</a:t>
            </a:r>
            <a:r>
              <a:rPr lang="zh-CN" altLang="en-US" dirty="0"/>
              <a:t>、</a:t>
            </a:r>
            <a:r>
              <a:rPr lang="en-US" altLang="zh-CN" dirty="0"/>
              <a:t>individuals</a:t>
            </a:r>
            <a:r>
              <a:rPr lang="zh-CN" altLang="en-US" dirty="0"/>
              <a:t>、</a:t>
            </a:r>
            <a:r>
              <a:rPr lang="en-US" altLang="zh-CN" dirty="0"/>
              <a:t>students</a:t>
            </a:r>
            <a:r>
              <a:rPr lang="zh-CN" altLang="en-US" dirty="0"/>
              <a:t>、</a:t>
            </a:r>
            <a:r>
              <a:rPr lang="en-US" altLang="zh-CN" dirty="0"/>
              <a:t>young men</a:t>
            </a:r>
            <a:r>
              <a:rPr lang="zh-CN" altLang="en-US" dirty="0"/>
              <a:t>、</a:t>
            </a:r>
            <a:r>
              <a:rPr lang="en-US" altLang="zh-CN" dirty="0"/>
              <a:t>adults</a:t>
            </a:r>
            <a:r>
              <a:rPr lang="zh-CN" altLang="en-US" dirty="0"/>
              <a:t>等；</a:t>
            </a:r>
            <a:endParaRPr lang="en-US" altLang="zh-CN" dirty="0"/>
          </a:p>
          <a:p>
            <a:r>
              <a:rPr lang="zh-CN" altLang="en-US" dirty="0"/>
              <a:t>“喜欢”的表达有</a:t>
            </a:r>
            <a:r>
              <a:rPr lang="en-US" altLang="zh-CN" dirty="0"/>
              <a:t>like</a:t>
            </a:r>
            <a:r>
              <a:rPr lang="zh-CN" altLang="en-US" dirty="0"/>
              <a:t>、</a:t>
            </a:r>
            <a:r>
              <a:rPr lang="en-US" altLang="zh-CN" dirty="0"/>
              <a:t>be fond of</a:t>
            </a:r>
            <a:r>
              <a:rPr lang="zh-CN" altLang="en-US" dirty="0"/>
              <a:t>、</a:t>
            </a:r>
            <a:r>
              <a:rPr lang="en-US" altLang="zh-CN" dirty="0"/>
              <a:t>be keen on</a:t>
            </a:r>
            <a:r>
              <a:rPr lang="zh-CN" altLang="en-US" dirty="0"/>
              <a:t>、</a:t>
            </a:r>
            <a:r>
              <a:rPr lang="en-US" altLang="zh-CN" dirty="0"/>
              <a:t>have a passion for </a:t>
            </a:r>
            <a:r>
              <a:rPr lang="zh-CN" altLang="en-US" dirty="0"/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2110624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09477-FD83-8D4A-127F-152FF18A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23CB0B-D7F0-94DE-0F86-B818FF697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汉语中不需要用太多的逻辑关系词，因为上下文以及字里行间就能体现逻辑关系；而英语中，缺少逻辑关系词就无法很好地体现逻辑关系。</a:t>
            </a:r>
            <a:endParaRPr lang="en-US" altLang="zh-CN" dirty="0"/>
          </a:p>
          <a:p>
            <a:r>
              <a:rPr lang="en-US" altLang="zh-CN" dirty="0"/>
              <a:t>《</a:t>
            </a:r>
            <a:r>
              <a:rPr lang="zh-CN" altLang="en-US" dirty="0"/>
              <a:t>大学英语一级</a:t>
            </a:r>
            <a:r>
              <a:rPr lang="en-US" altLang="zh-CN" dirty="0"/>
              <a:t>》p. 65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0964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FF76D-BB35-0C5B-B3CD-E4F6FBA93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0A4FE3-BA88-1459-9350-CD1629A50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句子的分类</a:t>
            </a:r>
            <a:endParaRPr lang="en-US" altLang="zh-CN" dirty="0"/>
          </a:p>
          <a:p>
            <a:r>
              <a:rPr lang="zh-CN" altLang="en-US" dirty="0"/>
              <a:t>结构上分为：简单句、复合句、复杂句</a:t>
            </a:r>
            <a:r>
              <a:rPr lang="en-US" altLang="zh-CN" dirty="0"/>
              <a:t>《</a:t>
            </a:r>
            <a:r>
              <a:rPr lang="zh-CN" altLang="en-US" dirty="0"/>
              <a:t>大学英语一级</a:t>
            </a:r>
            <a:r>
              <a:rPr lang="en-US" altLang="zh-CN" dirty="0"/>
              <a:t>》p. 88</a:t>
            </a:r>
          </a:p>
          <a:p>
            <a:r>
              <a:rPr lang="zh-CN" altLang="en-US" dirty="0"/>
              <a:t>语序上分为：倒装和正常语序</a:t>
            </a:r>
            <a:endParaRPr lang="en-US" altLang="zh-CN" dirty="0"/>
          </a:p>
          <a:p>
            <a:r>
              <a:rPr lang="zh-CN" altLang="en-US" dirty="0"/>
              <a:t>语态上分为：主动和被动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加分句型：虚拟语气</a:t>
            </a:r>
            <a:r>
              <a:rPr lang="en-US" altLang="zh-CN" dirty="0"/>
              <a:t>《</a:t>
            </a:r>
            <a:r>
              <a:rPr lang="zh-CN" altLang="en-US" dirty="0"/>
              <a:t>大学英语二级</a:t>
            </a:r>
            <a:r>
              <a:rPr lang="en-US" altLang="zh-CN" dirty="0"/>
              <a:t>》p. 102-103</a:t>
            </a:r>
            <a:r>
              <a:rPr lang="zh-CN" altLang="en-US" dirty="0"/>
              <a:t>和强调句 </a:t>
            </a:r>
            <a:r>
              <a:rPr lang="en-US" altLang="zh-CN" dirty="0"/>
              <a:t>《</a:t>
            </a:r>
            <a:r>
              <a:rPr lang="zh-CN" altLang="en-US" dirty="0"/>
              <a:t>大学英语二级</a:t>
            </a:r>
            <a:r>
              <a:rPr lang="en-US" altLang="zh-CN" dirty="0"/>
              <a:t>》p. 79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7289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7C632-1667-040C-BA1A-EED13568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句子的扩写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F049C2-EB33-075A-F470-5FA87E3DE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句子的扩写</a:t>
            </a:r>
            <a:endParaRPr lang="en-US" altLang="zh-CN" dirty="0"/>
          </a:p>
          <a:p>
            <a:r>
              <a:rPr lang="zh-CN" altLang="en-US" dirty="0"/>
              <a:t>能把句子写长的方式通常有三种：添加同位语、定语和状语。</a:t>
            </a:r>
            <a:endParaRPr lang="en-US" altLang="zh-CN" dirty="0"/>
          </a:p>
          <a:p>
            <a:r>
              <a:rPr lang="en-US" altLang="zh-CN" dirty="0"/>
              <a:t>②Violent video games will make children violent.</a:t>
            </a:r>
          </a:p>
          <a:p>
            <a:r>
              <a:rPr lang="en-US" altLang="zh-CN" dirty="0"/>
              <a:t>【</a:t>
            </a:r>
            <a:r>
              <a:rPr lang="zh-CN" altLang="en-US" dirty="0"/>
              <a:t>扩写</a:t>
            </a:r>
            <a:r>
              <a:rPr lang="en-US" altLang="zh-CN" dirty="0"/>
              <a:t>】Violent video games which are popular online everywhere will make children violent in their daily life because they tend to imitate these negative behaviors.</a:t>
            </a:r>
          </a:p>
          <a:p>
            <a:r>
              <a:rPr lang="en-US" altLang="zh-CN" dirty="0"/>
              <a:t>【</a:t>
            </a:r>
            <a:r>
              <a:rPr lang="zh-CN" altLang="en-US" dirty="0"/>
              <a:t>译文</a:t>
            </a:r>
            <a:r>
              <a:rPr lang="en-US" altLang="zh-CN" dirty="0"/>
              <a:t>】</a:t>
            </a:r>
            <a:r>
              <a:rPr lang="zh-CN" altLang="en-US" dirty="0"/>
              <a:t>在日常生活中，网上流行的暴力电子游戏会使孩子们变得暴力，因为他们倾向于模仿这些消极的行为。</a:t>
            </a:r>
            <a:endParaRPr lang="en-US" altLang="zh-CN" dirty="0"/>
          </a:p>
          <a:p>
            <a:r>
              <a:rPr lang="en-US" altLang="zh-CN" dirty="0"/>
              <a:t>③Pollution keeps exceedingly serious.</a:t>
            </a:r>
          </a:p>
          <a:p>
            <a:r>
              <a:rPr lang="en-US" altLang="zh-CN" dirty="0"/>
              <a:t>【</a:t>
            </a:r>
            <a:r>
              <a:rPr lang="zh-CN" altLang="en-US" dirty="0"/>
              <a:t>扩写</a:t>
            </a:r>
            <a:r>
              <a:rPr lang="en-US" altLang="zh-CN" dirty="0"/>
              <a:t>】Pollution</a:t>
            </a:r>
            <a:r>
              <a:rPr lang="zh-CN" altLang="en-US" dirty="0"/>
              <a:t>，</a:t>
            </a:r>
            <a:r>
              <a:rPr lang="en-US" altLang="zh-CN" dirty="0"/>
              <a:t>a global issue</a:t>
            </a:r>
            <a:r>
              <a:rPr lang="zh-CN" altLang="en-US" dirty="0"/>
              <a:t>，</a:t>
            </a:r>
            <a:r>
              <a:rPr lang="en-US" altLang="zh-CN" dirty="0"/>
              <a:t>keeps exceedingly serious with the rapid </a:t>
            </a:r>
            <a:r>
              <a:rPr lang="en-US" altLang="zh-CN" dirty="0" err="1"/>
              <a:t>urbanizationand</a:t>
            </a:r>
            <a:r>
              <a:rPr lang="en-US" altLang="zh-CN" dirty="0"/>
              <a:t> development of technology.</a:t>
            </a:r>
          </a:p>
          <a:p>
            <a:r>
              <a:rPr lang="en-US" altLang="zh-CN" dirty="0"/>
              <a:t>【</a:t>
            </a:r>
            <a:r>
              <a:rPr lang="zh-CN" altLang="en-US" dirty="0"/>
              <a:t>译文</a:t>
            </a:r>
            <a:r>
              <a:rPr lang="en-US" altLang="zh-CN" dirty="0"/>
              <a:t>】</a:t>
            </a:r>
            <a:r>
              <a:rPr lang="zh-CN" altLang="en-US" dirty="0"/>
              <a:t>污染是一个全球性的问题，随着城市化和科技的快速发展，污染问题变得越来越严重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429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2C480-46E8-03A6-EB75-1826327D9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句子的改写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BD6F8C-59A3-B1B8-E4AE-6114A210E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句子的改写</a:t>
            </a:r>
            <a:endParaRPr lang="en-US" altLang="zh-CN" dirty="0"/>
          </a:p>
          <a:p>
            <a:r>
              <a:rPr lang="zh-CN" altLang="en-US" dirty="0"/>
              <a:t>如果是主语一致的两句话，可以写成并列句，也可以将其中一个句子写成非谓语结构或定语从句。另外，也可以将主动句改写为被动句。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）自行车很重要。</a:t>
            </a:r>
            <a:endParaRPr lang="en-US" altLang="zh-CN" dirty="0"/>
          </a:p>
          <a:p>
            <a:r>
              <a:rPr lang="zh-CN" altLang="en-US" dirty="0"/>
              <a:t>基本表达：</a:t>
            </a:r>
            <a:r>
              <a:rPr lang="en-US" altLang="zh-CN" dirty="0"/>
              <a:t>Bicycles are very important.</a:t>
            </a:r>
          </a:p>
          <a:p>
            <a:r>
              <a:rPr lang="zh-CN" altLang="en-US" dirty="0"/>
              <a:t>定语从句：</a:t>
            </a:r>
            <a:r>
              <a:rPr lang="en-US" altLang="zh-CN" dirty="0"/>
              <a:t>Bicycles are tools that are very important in our city.</a:t>
            </a:r>
          </a:p>
          <a:p>
            <a:r>
              <a:rPr lang="zh-CN" altLang="en-US" dirty="0"/>
              <a:t>强调句：</a:t>
            </a:r>
            <a:r>
              <a:rPr lang="en-US" altLang="zh-CN" dirty="0"/>
              <a:t>It is bicycles that are very important in our city.</a:t>
            </a:r>
          </a:p>
          <a:p>
            <a:r>
              <a:rPr lang="zh-CN" altLang="en-US" dirty="0"/>
              <a:t>被动句：</a:t>
            </a:r>
            <a:r>
              <a:rPr lang="en-US" altLang="zh-CN" dirty="0"/>
              <a:t>Bicycles are believed to be very important by almost every citizen.</a:t>
            </a:r>
          </a:p>
          <a:p>
            <a:r>
              <a:rPr lang="zh-CN" altLang="en-US" dirty="0"/>
              <a:t>虚拟语气：</a:t>
            </a:r>
            <a:r>
              <a:rPr lang="en-US" altLang="zh-CN" dirty="0"/>
              <a:t>If there were no bicycles in our daily life,</a:t>
            </a:r>
            <a:r>
              <a:rPr lang="zh-CN" altLang="en-US" dirty="0"/>
              <a:t> </a:t>
            </a:r>
            <a:r>
              <a:rPr lang="en-US" altLang="zh-CN" dirty="0"/>
              <a:t>it would become much more difficult for us to go to work.</a:t>
            </a:r>
          </a:p>
          <a:p>
            <a:r>
              <a:rPr lang="zh-CN" altLang="en-US" dirty="0"/>
              <a:t>倒装句：</a:t>
            </a:r>
            <a:r>
              <a:rPr lang="en-US" altLang="zh-CN" dirty="0"/>
              <a:t>So crucial are bicycles in our daily life that they make our life more convenient.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603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AEA5E-92C3-F68A-AE94-BA8C0A66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85A46-A2F0-C23F-20CA-963A3729B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在写作中原因分析部分篇幅较短，可通过加定语、状语、同位语扩写句子。如果句型较为简单，不够高级，可改写句子，更换表达方式，写成主语从句、定语从句、虚拟语气、状语从句、强调句、倒装句等，提高句式的丰富性。</a:t>
            </a:r>
          </a:p>
        </p:txBody>
      </p:sp>
    </p:spTree>
    <p:extLst>
      <p:ext uri="{BB962C8B-B14F-4D97-AF65-F5344CB8AC3E}">
        <p14:creationId xmlns:p14="http://schemas.microsoft.com/office/powerpoint/2010/main" val="3533912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</TotalTime>
  <Words>2050</Words>
  <Application>Microsoft Office PowerPoint</Application>
  <PresentationFormat>宽屏</PresentationFormat>
  <Paragraphs>97</Paragraphs>
  <Slides>18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等线 Light</vt:lpstr>
      <vt:lpstr>Arial</vt:lpstr>
      <vt:lpstr>Office 主题​​</vt:lpstr>
      <vt:lpstr>四六级翻译写作技巧</vt:lpstr>
      <vt:lpstr>翻译题概述</vt:lpstr>
      <vt:lpstr>翻译选词原则</vt:lpstr>
      <vt:lpstr>PowerPoint 演示文稿</vt:lpstr>
      <vt:lpstr>PowerPoint 演示文稿</vt:lpstr>
      <vt:lpstr>真题讲解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翻译和写作原则</vt:lpstr>
      <vt:lpstr>PowerPoint 演示文稿</vt:lpstr>
      <vt:lpstr>PowerPoint 演示文稿</vt:lpstr>
      <vt:lpstr>PowerPoint 演示文稿</vt:lpstr>
      <vt:lpstr>句子的扩写</vt:lpstr>
      <vt:lpstr>句子的改写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四六级翻译写作技巧</dc:title>
  <dc:creator>Xinnian Zheng</dc:creator>
  <cp:lastModifiedBy>Xinnian Zheng</cp:lastModifiedBy>
  <cp:revision>16</cp:revision>
  <dcterms:created xsi:type="dcterms:W3CDTF">2025-12-10T10:19:01Z</dcterms:created>
  <dcterms:modified xsi:type="dcterms:W3CDTF">2026-04-21T12:07:41Z</dcterms:modified>
</cp:coreProperties>
</file>
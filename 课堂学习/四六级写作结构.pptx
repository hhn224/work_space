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381" r:id="rId3"/>
    <p:sldId id="6311" r:id="rId4"/>
    <p:sldId id="6312" r:id="rId5"/>
    <p:sldId id="6313" r:id="rId6"/>
    <p:sldId id="6314" r:id="rId7"/>
    <p:sldId id="6315" r:id="rId8"/>
    <p:sldId id="6317" r:id="rId9"/>
    <p:sldId id="6318" r:id="rId10"/>
    <p:sldId id="6316" r:id="rId11"/>
    <p:sldId id="631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72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5C19315-42F7-A64E-9F83-FDAF7873D685}"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7D6B17-5C34-0044-9D64-863CE1B101E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5C19315-42F7-A64E-9F83-FDAF7873D685}"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7D6B17-5C34-0044-9D64-863CE1B101E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C19315-42F7-A64E-9F83-FDAF7873D685}"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7D6B17-5C34-0044-9D64-863CE1B101E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5C19315-42F7-A64E-9F83-FDAF7873D685}"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7D6B17-5C34-0044-9D64-863CE1B101E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5C19315-42F7-A64E-9F83-FDAF7873D685}" type="datetimeFigureOut">
              <a:rPr lang="en-US" smtClean="0"/>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D7D6B17-5C34-0044-9D64-863CE1B101E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5C19315-42F7-A64E-9F83-FDAF7873D685}" type="datetimeFigureOut">
              <a:rPr lang="en-US" smtClean="0"/>
              <a:t>4/21/2026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D7D6B17-5C34-0044-9D64-863CE1B101E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C19315-42F7-A64E-9F83-FDAF7873D685}" type="datetimeFigureOut">
              <a:rPr lang="en-US" smtClean="0"/>
              <a:t>4/21/2026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D7D6B17-5C34-0044-9D64-863CE1B101E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C19315-42F7-A64E-9F83-FDAF7873D685}"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7D6B17-5C34-0044-9D64-863CE1B101E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C19315-42F7-A64E-9F83-FDAF7873D685}"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7D6B17-5C34-0044-9D64-863CE1B101E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5C19315-42F7-A64E-9F83-FDAF7873D685}"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7D6B17-5C34-0044-9D64-863CE1B101E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5C19315-42F7-A64E-9F83-FDAF7873D685}"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7D6B17-5C34-0044-9D64-863CE1B101E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5C19315-42F7-A64E-9F83-FDAF7873D685}" type="datetimeFigureOut">
              <a:rPr lang="en-US" smtClean="0"/>
              <a:t>4/21/2026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7D6B17-5C34-0044-9D64-863CE1B101E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zh-CN" dirty="0"/>
              <a:t>Unit 4 Writing</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16173" y="109182"/>
            <a:ext cx="8105919" cy="767639"/>
          </a:xfrm>
        </p:spPr>
        <p:txBody>
          <a:bodyPr/>
          <a:lstStyle/>
          <a:p>
            <a:pPr algn="ctr"/>
            <a:r>
              <a:rPr lang="en-US" altLang="zh-CN" dirty="0"/>
              <a:t>Writing tasks</a:t>
            </a:r>
            <a:endParaRPr lang="zh-CN" altLang="en-US" dirty="0"/>
          </a:p>
        </p:txBody>
      </p:sp>
      <p:sp>
        <p:nvSpPr>
          <p:cNvPr id="3" name="内容占位符 2"/>
          <p:cNvSpPr>
            <a:spLocks noGrp="1"/>
          </p:cNvSpPr>
          <p:nvPr>
            <p:ph idx="1"/>
          </p:nvPr>
        </p:nvSpPr>
        <p:spPr>
          <a:xfrm>
            <a:off x="1783308" y="968991"/>
            <a:ext cx="8666329" cy="5718412"/>
          </a:xfrm>
        </p:spPr>
        <p:txBody>
          <a:bodyPr>
            <a:normAutofit fontScale="92500" lnSpcReduction="20000"/>
          </a:bodyPr>
          <a:lstStyle/>
          <a:p>
            <a:pPr marL="0" indent="0">
              <a:buNone/>
            </a:pPr>
            <a:r>
              <a:rPr lang="en-US" altLang="zh-CN" dirty="0"/>
              <a:t>Write the first draft:</a:t>
            </a:r>
          </a:p>
          <a:p>
            <a:pPr marL="0" indent="0">
              <a:buNone/>
            </a:pPr>
            <a:r>
              <a:rPr lang="en-US" altLang="zh-CN" dirty="0"/>
              <a:t>a. Write on the topic “</a:t>
            </a:r>
            <a:r>
              <a:rPr lang="en-US" altLang="zh-CN" dirty="0">
                <a:solidFill>
                  <a:srgbClr val="FF0000"/>
                </a:solidFill>
              </a:rPr>
              <a:t>My favorite restaurant</a:t>
            </a:r>
            <a:r>
              <a:rPr lang="en-US" altLang="zh-CN" dirty="0"/>
              <a:t>”.</a:t>
            </a:r>
          </a:p>
          <a:p>
            <a:pPr marL="0" indent="0">
              <a:buNone/>
            </a:pPr>
            <a:r>
              <a:rPr lang="en-US" altLang="zh-CN" dirty="0"/>
              <a:t>b. Focus on </a:t>
            </a:r>
            <a:r>
              <a:rPr lang="en-US" altLang="zh-CN" dirty="0">
                <a:highlight>
                  <a:srgbClr val="FFFF00"/>
                </a:highlight>
              </a:rPr>
              <a:t>the reasons why </a:t>
            </a:r>
            <a:r>
              <a:rPr lang="en-US" altLang="zh-CN" dirty="0"/>
              <a:t>this is your favorite restaurant.</a:t>
            </a:r>
          </a:p>
          <a:p>
            <a:pPr marL="0" indent="0">
              <a:buNone/>
            </a:pPr>
            <a:r>
              <a:rPr lang="en-US" altLang="zh-CN" dirty="0"/>
              <a:t>c. Write an introductory paragraph, a concluding paragraph and three body paragraphs.</a:t>
            </a:r>
          </a:p>
          <a:p>
            <a:pPr marL="0" indent="0">
              <a:buNone/>
            </a:pPr>
            <a:r>
              <a:rPr lang="en-US" altLang="zh-CN" dirty="0"/>
              <a:t>d. Put different reasons in different body paragraphs. </a:t>
            </a:r>
          </a:p>
          <a:p>
            <a:pPr marL="0" indent="0">
              <a:buNone/>
            </a:pPr>
            <a:endParaRPr lang="en-US" altLang="zh-CN" dirty="0"/>
          </a:p>
          <a:p>
            <a:pPr marL="0" indent="0">
              <a:buNone/>
            </a:pPr>
            <a:r>
              <a:rPr lang="en-US" altLang="zh-CN" dirty="0"/>
              <a:t>e. Make an </a:t>
            </a:r>
            <a:r>
              <a:rPr lang="en-US" altLang="zh-CN" dirty="0">
                <a:solidFill>
                  <a:srgbClr val="FF0000"/>
                </a:solidFill>
              </a:rPr>
              <a:t>outline</a:t>
            </a:r>
            <a:r>
              <a:rPr lang="en-US" altLang="zh-CN" dirty="0"/>
              <a:t> before you write the essay.</a:t>
            </a:r>
          </a:p>
          <a:p>
            <a:pPr marL="0" indent="0">
              <a:buNone/>
            </a:pPr>
            <a:r>
              <a:rPr lang="en-US" altLang="zh-CN" dirty="0"/>
              <a:t>	</a:t>
            </a:r>
            <a:r>
              <a:rPr lang="en-US" altLang="zh-CN" dirty="0">
                <a:solidFill>
                  <a:srgbClr val="FF0000"/>
                </a:solidFill>
              </a:rPr>
              <a:t>Introductory paragraph</a:t>
            </a:r>
          </a:p>
          <a:p>
            <a:pPr marL="0" indent="0">
              <a:buNone/>
            </a:pPr>
            <a:r>
              <a:rPr lang="en-US" altLang="zh-CN" dirty="0"/>
              <a:t>	</a:t>
            </a:r>
            <a:r>
              <a:rPr lang="en-US" altLang="zh-CN" dirty="0">
                <a:solidFill>
                  <a:srgbClr val="FF0000"/>
                </a:solidFill>
              </a:rPr>
              <a:t>Body paragraphs</a:t>
            </a:r>
          </a:p>
          <a:p>
            <a:pPr marL="0" indent="0">
              <a:buNone/>
            </a:pPr>
            <a:r>
              <a:rPr lang="en-US" altLang="zh-CN" dirty="0"/>
              <a:t>Body paragraph 1 (Reason 1: explanation; examples)</a:t>
            </a:r>
          </a:p>
          <a:p>
            <a:pPr marL="0" indent="0">
              <a:buNone/>
            </a:pPr>
            <a:r>
              <a:rPr lang="en-US" altLang="zh-CN" dirty="0"/>
              <a:t>Body paragraph 2 (Reason 2: explanation; examples)</a:t>
            </a:r>
          </a:p>
          <a:p>
            <a:pPr marL="0" indent="0">
              <a:buNone/>
            </a:pPr>
            <a:r>
              <a:rPr lang="en-US" altLang="zh-CN" dirty="0"/>
              <a:t>Body paragraph 3 (Reason 3: explanation; examples)</a:t>
            </a:r>
          </a:p>
          <a:p>
            <a:pPr marL="0" indent="0">
              <a:buNone/>
            </a:pPr>
            <a:r>
              <a:rPr lang="en-US" altLang="zh-CN" dirty="0"/>
              <a:t>	</a:t>
            </a:r>
            <a:r>
              <a:rPr lang="en-US" altLang="zh-CN" dirty="0">
                <a:solidFill>
                  <a:srgbClr val="FF0000"/>
                </a:solidFill>
              </a:rPr>
              <a:t>Concluding paragraph</a:t>
            </a:r>
          </a:p>
          <a:p>
            <a:pPr marL="0" indent="0">
              <a:buNone/>
            </a:pP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General patten of an essay</a:t>
            </a:r>
          </a:p>
        </p:txBody>
      </p:sp>
      <p:sp>
        <p:nvSpPr>
          <p:cNvPr id="3" name="Content Placeholder 2"/>
          <p:cNvSpPr>
            <a:spLocks noGrp="1"/>
          </p:cNvSpPr>
          <p:nvPr>
            <p:ph idx="1"/>
          </p:nvPr>
        </p:nvSpPr>
        <p:spPr>
          <a:xfrm>
            <a:off x="1904294" y="2006248"/>
            <a:ext cx="8933039" cy="4351339"/>
          </a:xfrm>
        </p:spPr>
        <p:txBody>
          <a:bodyPr>
            <a:normAutofit fontScale="92500"/>
          </a:bodyPr>
          <a:lstStyle/>
          <a:p>
            <a:pPr marL="0" indent="0">
              <a:buNone/>
            </a:pPr>
            <a:r>
              <a:rPr lang="en-US" altLang="zh-CN" dirty="0">
                <a:solidFill>
                  <a:srgbClr val="FF0000"/>
                </a:solidFill>
              </a:rPr>
              <a:t>Introductory paragraph</a:t>
            </a:r>
          </a:p>
          <a:p>
            <a:pPr marL="0" indent="0">
              <a:buNone/>
            </a:pPr>
            <a:r>
              <a:rPr lang="en-US" altLang="zh-CN" dirty="0">
                <a:solidFill>
                  <a:srgbClr val="FF0000"/>
                </a:solidFill>
              </a:rPr>
              <a:t>Body paragraphs</a:t>
            </a:r>
          </a:p>
          <a:p>
            <a:pPr marL="0" indent="0">
              <a:buNone/>
            </a:pPr>
            <a:r>
              <a:rPr lang="en-US" altLang="zh-CN" dirty="0"/>
              <a:t>	Body paragraph 1 (Reason 1: explanation; examples)</a:t>
            </a:r>
          </a:p>
          <a:p>
            <a:pPr marL="0" indent="0">
              <a:buNone/>
            </a:pPr>
            <a:r>
              <a:rPr lang="en-US" altLang="zh-CN" dirty="0"/>
              <a:t>	Body paragraph 2 (Reason 2: explanation; examples)</a:t>
            </a:r>
          </a:p>
          <a:p>
            <a:pPr marL="0" indent="0">
              <a:buNone/>
            </a:pPr>
            <a:r>
              <a:rPr lang="en-US" altLang="zh-CN" dirty="0"/>
              <a:t>	Body paragraph 3 (Reason 3: explanation; examples)</a:t>
            </a:r>
          </a:p>
          <a:p>
            <a:pPr marL="0" indent="0">
              <a:buNone/>
            </a:pPr>
            <a:r>
              <a:rPr lang="en-US" altLang="zh-CN" dirty="0">
                <a:solidFill>
                  <a:srgbClr val="FF0000"/>
                </a:solidFill>
              </a:rPr>
              <a:t>Concluding paragraph </a:t>
            </a:r>
          </a:p>
          <a:p>
            <a:pPr marL="0" indent="0">
              <a:buNone/>
            </a:pPr>
            <a:r>
              <a:rPr lang="en-US" altLang="zh-CN" dirty="0"/>
              <a:t>(restatement or summary of the main points; final comment)</a:t>
            </a:r>
          </a:p>
          <a:p>
            <a:endParaRPr lang="en-US" dirty="0"/>
          </a:p>
        </p:txBody>
      </p:sp>
      <p:sp>
        <p:nvSpPr>
          <p:cNvPr id="4" name="Left Brace 3"/>
          <p:cNvSpPr/>
          <p:nvPr/>
        </p:nvSpPr>
        <p:spPr>
          <a:xfrm>
            <a:off x="5508979" y="1862667"/>
            <a:ext cx="146755" cy="812800"/>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sz="2400">
              <a:solidFill>
                <a:sysClr val="windowText" lastClr="000000"/>
              </a:solidFill>
            </a:endParaRPr>
          </a:p>
        </p:txBody>
      </p:sp>
      <p:sp>
        <p:nvSpPr>
          <p:cNvPr id="5" name="TextBox 4"/>
          <p:cNvSpPr txBox="1"/>
          <p:nvPr/>
        </p:nvSpPr>
        <p:spPr>
          <a:xfrm>
            <a:off x="5582357" y="1668901"/>
            <a:ext cx="5181599" cy="1200329"/>
          </a:xfrm>
          <a:prstGeom prst="rect">
            <a:avLst/>
          </a:prstGeom>
          <a:noFill/>
        </p:spPr>
        <p:txBody>
          <a:bodyPr wrap="square" rtlCol="0">
            <a:spAutoFit/>
          </a:bodyPr>
          <a:lstStyle/>
          <a:p>
            <a:r>
              <a:rPr lang="en-US" sz="2400" dirty="0"/>
              <a:t>General statements (backgroud/hook)</a:t>
            </a:r>
          </a:p>
          <a:p>
            <a:endParaRPr lang="en-US" sz="2400" dirty="0"/>
          </a:p>
          <a:p>
            <a:r>
              <a:rPr lang="en-US" sz="2400" dirty="0"/>
              <a:t>Thesis statement (your main idea</a:t>
            </a:r>
            <a:r>
              <a:rPr lang="en-US" sz="2000" dirty="0"/>
              <a:t>)</a:t>
            </a:r>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496" y="307447"/>
            <a:ext cx="8020413" cy="1109932"/>
          </a:xfrm>
        </p:spPr>
        <p:txBody>
          <a:bodyPr>
            <a:normAutofit/>
          </a:bodyPr>
          <a:lstStyle/>
          <a:p>
            <a:pPr algn="ctr"/>
            <a:r>
              <a:rPr lang="en-US" altLang="zh-CN" dirty="0"/>
              <a:t>Introductory</a:t>
            </a:r>
            <a:r>
              <a:rPr lang="en-US" altLang="zh-CN" sz="3500" dirty="0"/>
              <a:t> </a:t>
            </a:r>
            <a:r>
              <a:rPr lang="en-US" altLang="zh-CN" dirty="0"/>
              <a:t>paragraph</a:t>
            </a:r>
            <a:endParaRPr lang="en-US" dirty="0"/>
          </a:p>
        </p:txBody>
      </p:sp>
      <p:pic>
        <p:nvPicPr>
          <p:cNvPr id="5" name="Picture 4" descr="A diagram of a funnel&#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8119" y="2624625"/>
            <a:ext cx="4353716" cy="2427196"/>
          </a:xfrm>
          <a:prstGeom prst="rect">
            <a:avLst/>
          </a:prstGeom>
        </p:spPr>
      </p:pic>
      <p:sp>
        <p:nvSpPr>
          <p:cNvPr id="3" name="Content Placeholder 2"/>
          <p:cNvSpPr>
            <a:spLocks noGrp="1"/>
          </p:cNvSpPr>
          <p:nvPr>
            <p:ph idx="1"/>
          </p:nvPr>
        </p:nvSpPr>
        <p:spPr>
          <a:xfrm>
            <a:off x="6916882" y="2357889"/>
            <a:ext cx="3199028" cy="3902635"/>
          </a:xfrm>
        </p:spPr>
        <p:txBody>
          <a:bodyPr anchor="ctr">
            <a:normAutofit/>
          </a:bodyPr>
          <a:lstStyle/>
          <a:p>
            <a:r>
              <a:rPr lang="en-US" sz="1700" dirty="0"/>
              <a:t>General information/overall comments of topic </a:t>
            </a:r>
          </a:p>
          <a:p>
            <a:r>
              <a:rPr lang="en-US" sz="1700" dirty="0"/>
              <a:t>As a lead-in to attract readers’ attention. </a:t>
            </a:r>
          </a:p>
          <a:p>
            <a:endParaRPr lang="en-US" sz="1700" dirty="0"/>
          </a:p>
          <a:p>
            <a:r>
              <a:rPr lang="en-US" sz="1700" dirty="0"/>
              <a:t>Narrow down and state the specific topic</a:t>
            </a:r>
          </a:p>
        </p:txBody>
      </p:sp>
      <p:sp>
        <p:nvSpPr>
          <p:cNvPr id="6" name="TextBox 5"/>
          <p:cNvSpPr txBox="1"/>
          <p:nvPr/>
        </p:nvSpPr>
        <p:spPr>
          <a:xfrm>
            <a:off x="2076091" y="2112767"/>
            <a:ext cx="2803883" cy="461665"/>
          </a:xfrm>
          <a:prstGeom prst="rect">
            <a:avLst/>
          </a:prstGeom>
          <a:noFill/>
        </p:spPr>
        <p:txBody>
          <a:bodyPr wrap="square" rtlCol="0">
            <a:spAutoFit/>
          </a:bodyPr>
          <a:lstStyle/>
          <a:p>
            <a:r>
              <a:rPr lang="en-US" sz="2400" dirty="0"/>
              <a:t>Funnel introduction </a:t>
            </a:r>
          </a:p>
        </p:txBody>
      </p:sp>
      <p:cxnSp>
        <p:nvCxnSpPr>
          <p:cNvPr id="9" name="Straight Arrow Connector 8"/>
          <p:cNvCxnSpPr/>
          <p:nvPr/>
        </p:nvCxnSpPr>
        <p:spPr>
          <a:xfrm>
            <a:off x="5779913" y="4583290"/>
            <a:ext cx="925689" cy="36124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p:cNvCxnSpPr/>
          <p:nvPr/>
        </p:nvCxnSpPr>
        <p:spPr>
          <a:xfrm>
            <a:off x="5689203" y="3687783"/>
            <a:ext cx="92608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Introduction: general statement(s)</a:t>
            </a:r>
          </a:p>
        </p:txBody>
      </p:sp>
      <p:sp>
        <p:nvSpPr>
          <p:cNvPr id="3" name="Content Placeholder 2"/>
          <p:cNvSpPr>
            <a:spLocks noGrp="1"/>
          </p:cNvSpPr>
          <p:nvPr>
            <p:ph idx="1"/>
          </p:nvPr>
        </p:nvSpPr>
        <p:spPr/>
        <p:txBody>
          <a:bodyPr/>
          <a:lstStyle/>
          <a:p>
            <a:r>
              <a:rPr lang="en-US" dirty="0"/>
              <a:t>1. As a local resident of Hong Kong, I have tried lots of foods in different restaurants from different countries and regions.</a:t>
            </a:r>
          </a:p>
          <a:p>
            <a:r>
              <a:rPr lang="en-US" dirty="0"/>
              <a:t>2. Studying and living in Guangzhou, an international city, we have a variety of choice when it comes to different restaurants which provide us with a diverse range of dishes, from local cuisine to exotic food. </a:t>
            </a:r>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Introduction: thesis statement</a:t>
            </a:r>
          </a:p>
        </p:txBody>
      </p:sp>
      <p:sp>
        <p:nvSpPr>
          <p:cNvPr id="3" name="Content Placeholder 2"/>
          <p:cNvSpPr>
            <a:spLocks noGrp="1"/>
          </p:cNvSpPr>
          <p:nvPr>
            <p:ph idx="1"/>
          </p:nvPr>
        </p:nvSpPr>
        <p:spPr/>
        <p:txBody>
          <a:bodyPr>
            <a:normAutofit fontScale="92500"/>
          </a:bodyPr>
          <a:lstStyle/>
          <a:p>
            <a:r>
              <a:rPr lang="en-US" dirty="0"/>
              <a:t>However, my favorite restaurant is the Cheesecake Factory.</a:t>
            </a:r>
          </a:p>
          <a:p>
            <a:r>
              <a:rPr lang="en-US" dirty="0"/>
              <a:t>Among all the choices, the one that I like the most is…</a:t>
            </a:r>
          </a:p>
          <a:p>
            <a:pPr marL="0" indent="0">
              <a:buNone/>
            </a:pPr>
            <a:endParaRPr lang="en-US" dirty="0"/>
          </a:p>
          <a:p>
            <a:pPr marL="0" indent="0">
              <a:buNone/>
            </a:pPr>
            <a:r>
              <a:rPr lang="en-US" dirty="0"/>
              <a:t> - You can also consider listing </a:t>
            </a:r>
            <a:r>
              <a:rPr lang="en-US" dirty="0">
                <a:highlight>
                  <a:srgbClr val="FFFF00"/>
                </a:highlight>
              </a:rPr>
              <a:t>subdivisions</a:t>
            </a:r>
            <a:r>
              <a:rPr lang="en-US" dirty="0"/>
              <a:t> of the main topic to better inform your readers about the overall structure of your essay</a:t>
            </a:r>
          </a:p>
          <a:p>
            <a:pPr marL="0" indent="0">
              <a:buNone/>
            </a:pPr>
            <a:endParaRPr lang="en-US" dirty="0"/>
          </a:p>
          <a:p>
            <a:r>
              <a:rPr lang="en-US" sz="2400" dirty="0"/>
              <a:t>There are three reasons why I am so keen of this resteraunt: they not only provide you with their excellent service, but they also offer a variety of food and drinks.</a:t>
            </a:r>
          </a:p>
          <a:p>
            <a:r>
              <a:rPr lang="en-US" sz="2400" dirty="0"/>
              <a:t>My preference for this resteraunt lies in both the excellent service they provide and the variety of food they offer.</a:t>
            </a:r>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zh-CN" dirty="0"/>
              <a:t>Body paragraph</a:t>
            </a:r>
            <a:endParaRPr lang="en-US" dirty="0"/>
          </a:p>
        </p:txBody>
      </p:sp>
      <p:sp>
        <p:nvSpPr>
          <p:cNvPr id="3" name="Content Placeholder 2"/>
          <p:cNvSpPr>
            <a:spLocks noGrp="1"/>
          </p:cNvSpPr>
          <p:nvPr>
            <p:ph idx="1"/>
          </p:nvPr>
        </p:nvSpPr>
        <p:spPr>
          <a:xfrm>
            <a:off x="2051051" y="1836913"/>
            <a:ext cx="9102372" cy="4351339"/>
          </a:xfrm>
        </p:spPr>
        <p:txBody>
          <a:bodyPr/>
          <a:lstStyle/>
          <a:p>
            <a:r>
              <a:rPr lang="en-US" altLang="zh-CN" dirty="0"/>
              <a:t>Topic sentence</a:t>
            </a:r>
          </a:p>
          <a:p>
            <a:r>
              <a:rPr lang="en-US" altLang="zh-CN" dirty="0"/>
              <a:t>Explanation</a:t>
            </a:r>
          </a:p>
          <a:p>
            <a:r>
              <a:rPr lang="en-US" altLang="zh-CN" dirty="0"/>
              <a:t>Examples </a:t>
            </a:r>
          </a:p>
          <a:p>
            <a:r>
              <a:rPr lang="en-US" altLang="zh-CN" dirty="0"/>
              <a:t>(Concluding sentence)</a:t>
            </a:r>
          </a:p>
          <a:p>
            <a:endParaRPr lang="en-US" dirty="0"/>
          </a:p>
          <a:p>
            <a:r>
              <a:rPr lang="en-US" dirty="0"/>
              <a:t>A topic sentence should be the main idea of a paragraph, and it should be put at the beginning of a paragraph</a:t>
            </a:r>
          </a:p>
          <a:p>
            <a:r>
              <a:rPr lang="en-US" dirty="0"/>
              <a:t>In our case, the topic sentence should be…?</a:t>
            </a:r>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Is this a good body paragraph?</a:t>
            </a:r>
          </a:p>
        </p:txBody>
      </p:sp>
      <p:sp>
        <p:nvSpPr>
          <p:cNvPr id="3" name="Content Placeholder 2"/>
          <p:cNvSpPr>
            <a:spLocks noGrp="1"/>
          </p:cNvSpPr>
          <p:nvPr>
            <p:ph idx="1"/>
          </p:nvPr>
        </p:nvSpPr>
        <p:spPr/>
        <p:txBody>
          <a:bodyPr>
            <a:normAutofit/>
          </a:bodyPr>
          <a:lstStyle/>
          <a:p>
            <a:pPr marL="0" indent="0" algn="just">
              <a:buNone/>
            </a:pPr>
            <a:r>
              <a:rPr lang="en-US" dirty="0"/>
              <a:t>	The Cheesecake Factory is an American restaurant that mainly serves steak, burgers, linguine and cheesecakes of course. When I had the meal at the Cheesecake Factory for the first time, I was really surprised at the quantity of their dishes. However, what really impressed me was their excellent service. You can hardly notice customers raise their hands to ask for services, since the waiters or waitresses are told to serve the customers wholeheartedly and required to respond to customers’ needs voluntarily. </a:t>
            </a:r>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Body paragraph 1</a:t>
            </a:r>
          </a:p>
        </p:txBody>
      </p:sp>
      <p:sp>
        <p:nvSpPr>
          <p:cNvPr id="3" name="Content Placeholder 2"/>
          <p:cNvSpPr>
            <a:spLocks noGrp="1"/>
          </p:cNvSpPr>
          <p:nvPr>
            <p:ph idx="1"/>
          </p:nvPr>
        </p:nvSpPr>
        <p:spPr/>
        <p:txBody>
          <a:bodyPr>
            <a:normAutofit fontScale="92500" lnSpcReduction="10000"/>
          </a:bodyPr>
          <a:lstStyle/>
          <a:p>
            <a:r>
              <a:rPr lang="en-US" dirty="0"/>
              <a:t>What impressed me at the Cheesecake Factory was their excellent service </a:t>
            </a:r>
            <a:r>
              <a:rPr lang="en-US" dirty="0">
                <a:highlight>
                  <a:srgbClr val="FFFF00"/>
                </a:highlight>
              </a:rPr>
              <a:t>(topic sentence)</a:t>
            </a:r>
            <a:r>
              <a:rPr lang="en-US" dirty="0"/>
              <a:t>. You can hardly notice customers raise their hands to ask for services, since the waiters or waitresses are told to serve the customers wholeheartedly and </a:t>
            </a:r>
            <a:r>
              <a:rPr lang="en-US" dirty="0">
                <a:solidFill>
                  <a:srgbClr val="FF0000"/>
                </a:solidFill>
              </a:rPr>
              <a:t>(are) </a:t>
            </a:r>
            <a:r>
              <a:rPr lang="en-US" dirty="0"/>
              <a:t>required to respond to customers’ needs voluntarily </a:t>
            </a:r>
            <a:r>
              <a:rPr lang="en-US" dirty="0">
                <a:highlight>
                  <a:srgbClr val="FFFF00"/>
                </a:highlight>
              </a:rPr>
              <a:t>(example</a:t>
            </a:r>
            <a:r>
              <a:rPr lang="en-US" dirty="0"/>
              <a:t>). </a:t>
            </a:r>
          </a:p>
          <a:p>
            <a:endParaRPr lang="en-US" dirty="0"/>
          </a:p>
          <a:p>
            <a:r>
              <a:rPr lang="en-US" dirty="0"/>
              <a:t>The first </a:t>
            </a:r>
            <a:r>
              <a:rPr lang="en-US" altLang="zh-CN" dirty="0"/>
              <a:t>reason</a:t>
            </a:r>
            <a:r>
              <a:rPr lang="zh-CN" altLang="en-US" dirty="0"/>
              <a:t> </a:t>
            </a:r>
            <a:r>
              <a:rPr lang="en-US" altLang="zh-CN" dirty="0"/>
              <a:t>why</a:t>
            </a:r>
            <a:r>
              <a:rPr lang="zh-CN" altLang="en-US" dirty="0"/>
              <a:t> </a:t>
            </a:r>
            <a:r>
              <a:rPr lang="en-US" altLang="zh-CN" dirty="0"/>
              <a:t>I</a:t>
            </a:r>
            <a:r>
              <a:rPr lang="zh-CN" altLang="en-US" dirty="0"/>
              <a:t> </a:t>
            </a:r>
            <a:r>
              <a:rPr lang="en-US" altLang="zh-CN" dirty="0"/>
              <a:t>like</a:t>
            </a:r>
            <a:r>
              <a:rPr lang="zh-CN" altLang="en-US" dirty="0"/>
              <a:t> </a:t>
            </a:r>
            <a:r>
              <a:rPr lang="en-US" altLang="zh-CN" dirty="0"/>
              <a:t>this</a:t>
            </a:r>
            <a:r>
              <a:rPr lang="zh-CN" altLang="en-US" dirty="0"/>
              <a:t> </a:t>
            </a:r>
            <a:r>
              <a:rPr lang="en-US" altLang="zh-CN" dirty="0"/>
              <a:t>restaurant</a:t>
            </a:r>
            <a:r>
              <a:rPr lang="zh-CN" altLang="en-US" dirty="0"/>
              <a:t> </a:t>
            </a:r>
            <a:r>
              <a:rPr lang="en-US" altLang="zh-CN" dirty="0"/>
              <a:t>so</a:t>
            </a:r>
            <a:r>
              <a:rPr lang="zh-CN" altLang="en-US" dirty="0"/>
              <a:t> </a:t>
            </a:r>
            <a:r>
              <a:rPr lang="en-US" altLang="zh-CN" dirty="0"/>
              <a:t>much</a:t>
            </a:r>
            <a:r>
              <a:rPr lang="zh-CN" altLang="en-US" dirty="0"/>
              <a:t> </a:t>
            </a:r>
            <a:r>
              <a:rPr lang="en-US" altLang="zh-CN" dirty="0"/>
              <a:t>is</a:t>
            </a:r>
            <a:r>
              <a:rPr lang="zh-CN" altLang="en-US" dirty="0"/>
              <a:t> </a:t>
            </a:r>
            <a:r>
              <a:rPr lang="en-US" altLang="zh-CN" dirty="0"/>
              <a:t>their</a:t>
            </a:r>
            <a:r>
              <a:rPr lang="zh-CN" altLang="en-US" dirty="0"/>
              <a:t> </a:t>
            </a:r>
            <a:r>
              <a:rPr lang="en-US" altLang="zh-CN" dirty="0"/>
              <a:t>great</a:t>
            </a:r>
            <a:r>
              <a:rPr lang="zh-CN" altLang="en-US" dirty="0"/>
              <a:t> </a:t>
            </a:r>
            <a:r>
              <a:rPr lang="en-US" altLang="zh-CN" dirty="0"/>
              <a:t>service (</a:t>
            </a:r>
            <a:r>
              <a:rPr lang="en-US" altLang="zh-CN" dirty="0">
                <a:highlight>
                  <a:srgbClr val="FFFF00"/>
                </a:highlight>
              </a:rPr>
              <a:t>topic sentence</a:t>
            </a:r>
            <a:r>
              <a:rPr lang="en-US" altLang="zh-CN" dirty="0"/>
              <a:t>).</a:t>
            </a:r>
            <a:r>
              <a:rPr lang="zh-CN" altLang="en-US" dirty="0"/>
              <a:t> </a:t>
            </a:r>
            <a:r>
              <a:rPr lang="en-US" altLang="zh-CN" dirty="0"/>
              <a:t>Whenever you raise your hand to ask for services, they will always respond to your needs immediately (</a:t>
            </a:r>
            <a:r>
              <a:rPr lang="en-US" altLang="zh-CN" dirty="0">
                <a:highlight>
                  <a:srgbClr val="FFFF00"/>
                </a:highlight>
              </a:rPr>
              <a:t>example 1</a:t>
            </a:r>
            <a:r>
              <a:rPr lang="en-US" altLang="zh-CN" dirty="0"/>
              <a:t>). Moreover, you can always see a big smile on their face when they talk to you (</a:t>
            </a:r>
            <a:r>
              <a:rPr lang="en-US" altLang="zh-CN" dirty="0">
                <a:highlight>
                  <a:srgbClr val="FFFF00"/>
                </a:highlight>
              </a:rPr>
              <a:t>example 2</a:t>
            </a:r>
            <a:r>
              <a:rPr lang="en-US" altLang="zh-CN" dirty="0"/>
              <a:t>). Their kind attitude always cheers me up, making me want to visit the place again and again (</a:t>
            </a:r>
            <a:r>
              <a:rPr lang="en-US" altLang="zh-CN" dirty="0">
                <a:highlight>
                  <a:srgbClr val="FFFF00"/>
                </a:highlight>
              </a:rPr>
              <a:t>concluding sentence</a:t>
            </a:r>
            <a:r>
              <a:rPr lang="en-US" altLang="zh-CN" dirty="0"/>
              <a:t>). </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Connecting body paragraphs</a:t>
            </a:r>
          </a:p>
        </p:txBody>
      </p:sp>
      <p:sp>
        <p:nvSpPr>
          <p:cNvPr id="3" name="Content Placeholder 2"/>
          <p:cNvSpPr>
            <a:spLocks noGrp="1"/>
          </p:cNvSpPr>
          <p:nvPr>
            <p:ph idx="1"/>
          </p:nvPr>
        </p:nvSpPr>
        <p:spPr/>
        <p:txBody>
          <a:bodyPr>
            <a:normAutofit fontScale="92500"/>
          </a:bodyPr>
          <a:lstStyle/>
          <a:p>
            <a:pPr marL="0" indent="0">
              <a:buNone/>
            </a:pPr>
            <a:r>
              <a:rPr lang="en-US" dirty="0"/>
              <a:t>Body Paragraph 2: </a:t>
            </a:r>
          </a:p>
          <a:p>
            <a:pPr marL="0" indent="0">
              <a:buNone/>
            </a:pPr>
            <a:r>
              <a:rPr lang="en-US" dirty="0">
                <a:highlight>
                  <a:srgbClr val="FFFF00"/>
                </a:highlight>
              </a:rPr>
              <a:t>Moreover</a:t>
            </a:r>
            <a:r>
              <a:rPr lang="en-US" dirty="0"/>
              <a:t>, Cheesecake Factory offers customers different tastes of steak, like rare, medium, and well-done. Every time I eat there with my friends, I don't have to worry about their different preferences. </a:t>
            </a:r>
            <a:endParaRPr lang="zh-CN" altLang="en-US" dirty="0"/>
          </a:p>
          <a:p>
            <a:pPr marL="0" indent="0">
              <a:buNone/>
            </a:pPr>
            <a:endParaRPr lang="en-US" dirty="0"/>
          </a:p>
          <a:p>
            <a:pPr marL="0" indent="0">
              <a:buNone/>
            </a:pPr>
            <a:r>
              <a:rPr lang="en-US" dirty="0"/>
              <a:t>Body paragraph 3:</a:t>
            </a:r>
          </a:p>
          <a:p>
            <a:pPr marL="0" indent="0">
              <a:buNone/>
            </a:pPr>
            <a:r>
              <a:rPr lang="en-US" dirty="0">
                <a:highlight>
                  <a:srgbClr val="FFFF00"/>
                </a:highlight>
              </a:rPr>
              <a:t>In addition</a:t>
            </a:r>
            <a:r>
              <a:rPr lang="en-US" dirty="0"/>
              <a:t>, the beverages at Cheesecake Factory are also a significant bonus for customers. You can enjoy different kinds of classic cocktails, such as Long Island, Mojito, Martini, and Margarita. I don't drink, but I like the marvelous bartending show by the skillful bartenders.</a:t>
            </a:r>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zh-CN" dirty="0"/>
              <a:t>Concluding paragraph </a:t>
            </a:r>
            <a:endParaRPr lang="en-US" dirty="0"/>
          </a:p>
        </p:txBody>
      </p:sp>
      <p:sp>
        <p:nvSpPr>
          <p:cNvPr id="3" name="Content Placeholder 2"/>
          <p:cNvSpPr>
            <a:spLocks noGrp="1"/>
          </p:cNvSpPr>
          <p:nvPr>
            <p:ph idx="1"/>
          </p:nvPr>
        </p:nvSpPr>
        <p:spPr/>
        <p:txBody>
          <a:bodyPr>
            <a:normAutofit fontScale="92500" lnSpcReduction="10000"/>
          </a:bodyPr>
          <a:lstStyle/>
          <a:p>
            <a:r>
              <a:rPr lang="en-US" dirty="0"/>
              <a:t>Summarize the previous paragraphs/call for action</a:t>
            </a:r>
          </a:p>
          <a:p>
            <a:endParaRPr lang="en-US" dirty="0"/>
          </a:p>
          <a:p>
            <a:r>
              <a:rPr lang="en-US" dirty="0"/>
              <a:t>If you wish to enjoy the classic Western </a:t>
            </a:r>
            <a:r>
              <a:rPr lang="en-US" dirty="0">
                <a:highlight>
                  <a:srgbClr val="FFFF00"/>
                </a:highlight>
              </a:rPr>
              <a:t>beverages, foods, and desserts</a:t>
            </a:r>
            <a:r>
              <a:rPr lang="en-US" dirty="0"/>
              <a:t>, go to the Cheesecake Factory in Hong Kong. There they offer you </a:t>
            </a:r>
            <a:r>
              <a:rPr lang="en-US" dirty="0">
                <a:highlight>
                  <a:srgbClr val="FFFF00"/>
                </a:highlight>
              </a:rPr>
              <a:t>the best service </a:t>
            </a:r>
            <a:r>
              <a:rPr lang="en-US" dirty="0"/>
              <a:t>at affordable prices. </a:t>
            </a:r>
          </a:p>
          <a:p>
            <a:endParaRPr lang="en-US" dirty="0"/>
          </a:p>
          <a:p>
            <a:r>
              <a:rPr lang="en-US" dirty="0"/>
              <a:t>Cheesecake Factory is such a wonderful resteruant where you can get to taste a wide range of high-qualitied foods </a:t>
            </a:r>
            <a:r>
              <a:rPr lang="en-US" dirty="0">
                <a:highlight>
                  <a:srgbClr val="FFFF00"/>
                </a:highlight>
              </a:rPr>
              <a:t>(2rd reason</a:t>
            </a:r>
            <a:r>
              <a:rPr lang="en-US" dirty="0"/>
              <a:t>). Their great service also makes them a must-go place on your list (</a:t>
            </a:r>
            <a:r>
              <a:rPr lang="en-US" dirty="0">
                <a:highlight>
                  <a:srgbClr val="FFFF00"/>
                </a:highlight>
              </a:rPr>
              <a:t>1st reason</a:t>
            </a:r>
            <a:r>
              <a:rPr lang="en-US" dirty="0"/>
              <a:t>). Therefore, I highly recommend you go visit the place sometime in the future (</a:t>
            </a:r>
            <a:r>
              <a:rPr lang="en-US" dirty="0">
                <a:highlight>
                  <a:srgbClr val="FFFF00"/>
                </a:highlight>
              </a:rPr>
              <a:t>suggestion)</a:t>
            </a:r>
          </a:p>
          <a:p>
            <a:pPr marL="0" indent="0">
              <a:buNone/>
            </a:pPr>
            <a:endParaRPr lang="en-US" dirty="0"/>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881</Words>
  <Application>Microsoft Office PowerPoint</Application>
  <PresentationFormat>宽屏</PresentationFormat>
  <Paragraphs>69</Paragraphs>
  <Slides>11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11</vt:i4>
      </vt:variant>
    </vt:vector>
  </HeadingPairs>
  <TitlesOfParts>
    <vt:vector size="15" baseType="lpstr">
      <vt:lpstr>Aptos</vt:lpstr>
      <vt:lpstr>Aptos Display</vt:lpstr>
      <vt:lpstr>Arial</vt:lpstr>
      <vt:lpstr>Office Theme</vt:lpstr>
      <vt:lpstr>Unit 4 Writing</vt:lpstr>
      <vt:lpstr>Writing tasks</vt:lpstr>
      <vt:lpstr>General patten of an essay</vt:lpstr>
      <vt:lpstr>Introductory paragraph</vt:lpstr>
      <vt:lpstr>Introduction: general statement(s)</vt:lpstr>
      <vt:lpstr>Introduction: thesis statement</vt:lpstr>
      <vt:lpstr>Body paragraph</vt:lpstr>
      <vt:lpstr>Is this a good body paragraph?</vt:lpstr>
      <vt:lpstr>Body paragraph 1</vt:lpstr>
      <vt:lpstr>Connecting body paragraphs</vt:lpstr>
      <vt:lpstr>Concluding paragraph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YUQI HU</dc:creator>
  <cp:lastModifiedBy>Xinnian Zheng</cp:lastModifiedBy>
  <cp:revision>8</cp:revision>
  <dcterms:created xsi:type="dcterms:W3CDTF">2025-12-03T09:46:00Z</dcterms:created>
  <dcterms:modified xsi:type="dcterms:W3CDTF">2026-04-21T12:08:58Z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D09E5A97E8494D6A854F9023519EB9FF_12</vt:lpwstr>
  </property>
  <property fmtid="{D5CDD505-2E9C-101B-9397-08002B2CF9AE}" pid="3" name="KSOProductBuildVer">
    <vt:lpwstr>2052-12.1.0.21915</vt:lpwstr>
  </property>
</Properties>
</file>